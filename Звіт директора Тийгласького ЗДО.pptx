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6" r:id="rId11"/>
    <p:sldId id="267" r:id="rId12"/>
    <p:sldId id="268" r:id="rId13"/>
    <p:sldId id="269" r:id="rId14"/>
    <p:sldId id="270" r:id="rId15"/>
    <p:sldId id="271" r:id="rId16"/>
    <p:sldId id="265" r:id="rId17"/>
    <p:sldId id="272" r:id="rId18"/>
    <p:sldId id="273" r:id="rId19"/>
    <p:sldId id="274" r:id="rId20"/>
    <p:sldId id="275"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 xmlns:p14="http://schemas.microsoft.com/office/powerpoint/2010/main" val="0"/>
    </p:ext>
    <p:ext uri="{D31A062A-798A-4329-ABDD-BBA856620510}">
      <p14:defaultImageDpi xmlns="" xmlns:p14="http://schemas.microsoft.com/office/powerpoint/2010/main" val="32767"/>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4995" autoAdjust="0"/>
    <p:restoredTop sz="94660"/>
  </p:normalViewPr>
  <p:slideViewPr>
    <p:cSldViewPr snapToGrid="0">
      <p:cViewPr varScale="1">
        <p:scale>
          <a:sx n="88" d="100"/>
          <a:sy n="88" d="100"/>
        </p:scale>
        <p:origin x="-466" y="-77"/>
      </p:cViewPr>
      <p:guideLst>
        <p:guide orient="horz" pos="2160"/>
        <p:guide pos="384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ий слайд">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uk-UA"/>
              <a:t>Клацніть, щоб редагувати стиль зразка заголовка</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uk-UA"/>
              <a:t>Клацніть, щоб редагувати стиль зразка підзаголовка</a:t>
            </a:r>
            <a:endParaRPr lang="en-US" dirty="0"/>
          </a:p>
        </p:txBody>
      </p:sp>
      <p:sp>
        <p:nvSpPr>
          <p:cNvPr id="4" name="Date Placeholder 3"/>
          <p:cNvSpPr>
            <a:spLocks noGrp="1"/>
          </p:cNvSpPr>
          <p:nvPr>
            <p:ph type="dt" sz="half" idx="10"/>
          </p:nvPr>
        </p:nvSpPr>
        <p:spPr/>
        <p:txBody>
          <a:bodyPr/>
          <a:lstStyle/>
          <a:p>
            <a:fld id="{D33EAAF3-CB13-43F6-9626-A0E307C7CA15}" type="datetimeFigureOut">
              <a:rPr lang="uk-UA" smtClean="0"/>
              <a:pPr/>
              <a:t>20.09.2026</a:t>
            </a:fld>
            <a:endParaRPr lang="uk-UA"/>
          </a:p>
        </p:txBody>
      </p:sp>
      <p:sp>
        <p:nvSpPr>
          <p:cNvPr id="5" name="Footer Placeholder 4"/>
          <p:cNvSpPr>
            <a:spLocks noGrp="1"/>
          </p:cNvSpPr>
          <p:nvPr>
            <p:ph type="ftr" sz="quarter" idx="11"/>
          </p:nvPr>
        </p:nvSpPr>
        <p:spPr/>
        <p:txBody>
          <a:bodyPr/>
          <a:lstStyle/>
          <a:p>
            <a:endParaRPr lang="uk-UA"/>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9F7BDBE4-28D2-428B-B578-E55D2E9BD1D3}" type="slidenum">
              <a:rPr lang="uk-UA" smtClean="0"/>
              <a:pPr/>
              <a:t>‹#›</a:t>
            </a:fld>
            <a:endParaRPr lang="uk-UA"/>
          </a:p>
        </p:txBody>
      </p:sp>
    </p:spTree>
    <p:extLst>
      <p:ext uri="{BB962C8B-B14F-4D97-AF65-F5344CB8AC3E}">
        <p14:creationId xmlns="" xmlns:p14="http://schemas.microsoft.com/office/powerpoint/2010/main" val="29909476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Назва та вміст">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uk-UA"/>
              <a:t>Клацніть, щоб редагувати стиль зразка заголовка</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endParaRPr lang="en-US" dirty="0"/>
          </a:p>
        </p:txBody>
      </p:sp>
      <p:sp>
        <p:nvSpPr>
          <p:cNvPr id="4" name="Date Placeholder 3"/>
          <p:cNvSpPr>
            <a:spLocks noGrp="1"/>
          </p:cNvSpPr>
          <p:nvPr>
            <p:ph type="dt" sz="half" idx="10"/>
          </p:nvPr>
        </p:nvSpPr>
        <p:spPr/>
        <p:txBody>
          <a:bodyPr/>
          <a:lstStyle/>
          <a:p>
            <a:fld id="{D33EAAF3-CB13-43F6-9626-A0E307C7CA15}" type="datetimeFigureOut">
              <a:rPr lang="uk-UA" smtClean="0"/>
              <a:pPr/>
              <a:t>20.09.2026</a:t>
            </a:fld>
            <a:endParaRPr lang="uk-UA"/>
          </a:p>
        </p:txBody>
      </p:sp>
      <p:sp>
        <p:nvSpPr>
          <p:cNvPr id="5" name="Footer Placeholder 4"/>
          <p:cNvSpPr>
            <a:spLocks noGrp="1"/>
          </p:cNvSpPr>
          <p:nvPr>
            <p:ph type="ftr" sz="quarter" idx="11"/>
          </p:nvPr>
        </p:nvSpPr>
        <p:spPr/>
        <p:txBody>
          <a:bodyPr/>
          <a:lstStyle/>
          <a:p>
            <a:endParaRPr lang="uk-UA"/>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9F7BDBE4-28D2-428B-B578-E55D2E9BD1D3}" type="slidenum">
              <a:rPr lang="uk-UA" smtClean="0"/>
              <a:pPr/>
              <a:t>‹#›</a:t>
            </a:fld>
            <a:endParaRPr lang="uk-UA"/>
          </a:p>
        </p:txBody>
      </p:sp>
    </p:spTree>
    <p:extLst>
      <p:ext uri="{BB962C8B-B14F-4D97-AF65-F5344CB8AC3E}">
        <p14:creationId xmlns="" xmlns:p14="http://schemas.microsoft.com/office/powerpoint/2010/main" val="21250677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Назва розділу">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uk-UA"/>
              <a:t>Клацніть, щоб редагувати стиль зразка заголовка</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uk-UA"/>
              <a:t>Клацніть, щоб відредагувати стилі зразків тексту</a:t>
            </a:r>
          </a:p>
        </p:txBody>
      </p:sp>
      <p:sp>
        <p:nvSpPr>
          <p:cNvPr id="4" name="Date Placeholder 3"/>
          <p:cNvSpPr>
            <a:spLocks noGrp="1"/>
          </p:cNvSpPr>
          <p:nvPr>
            <p:ph type="dt" sz="half" idx="10"/>
          </p:nvPr>
        </p:nvSpPr>
        <p:spPr/>
        <p:txBody>
          <a:bodyPr/>
          <a:lstStyle/>
          <a:p>
            <a:fld id="{D33EAAF3-CB13-43F6-9626-A0E307C7CA15}" type="datetimeFigureOut">
              <a:rPr lang="uk-UA" smtClean="0"/>
              <a:pPr/>
              <a:t>20.09.2026</a:t>
            </a:fld>
            <a:endParaRPr lang="uk-UA"/>
          </a:p>
        </p:txBody>
      </p:sp>
      <p:sp>
        <p:nvSpPr>
          <p:cNvPr id="5" name="Footer Placeholder 4"/>
          <p:cNvSpPr>
            <a:spLocks noGrp="1"/>
          </p:cNvSpPr>
          <p:nvPr>
            <p:ph type="ftr" sz="quarter" idx="11"/>
          </p:nvPr>
        </p:nvSpPr>
        <p:spPr/>
        <p:txBody>
          <a:bodyPr/>
          <a:lstStyle/>
          <a:p>
            <a:endParaRPr lang="uk-UA"/>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9F7BDBE4-28D2-428B-B578-E55D2E9BD1D3}" type="slidenum">
              <a:rPr lang="uk-UA" smtClean="0"/>
              <a:pPr/>
              <a:t>‹#›</a:t>
            </a:fld>
            <a:endParaRPr lang="uk-UA"/>
          </a:p>
        </p:txBody>
      </p:sp>
    </p:spTree>
    <p:extLst>
      <p:ext uri="{BB962C8B-B14F-4D97-AF65-F5344CB8AC3E}">
        <p14:creationId xmlns="" xmlns:p14="http://schemas.microsoft.com/office/powerpoint/2010/main" val="11774410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єкти">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uk-UA"/>
              <a:t>Клацніть, щоб редагувати стиль зразка заголовка</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endParaRPr lang="en-US" dirty="0"/>
          </a:p>
        </p:txBody>
      </p:sp>
      <p:sp>
        <p:nvSpPr>
          <p:cNvPr id="5" name="Date Placeholder 4"/>
          <p:cNvSpPr>
            <a:spLocks noGrp="1"/>
          </p:cNvSpPr>
          <p:nvPr>
            <p:ph type="dt" sz="half" idx="10"/>
          </p:nvPr>
        </p:nvSpPr>
        <p:spPr/>
        <p:txBody>
          <a:bodyPr/>
          <a:lstStyle/>
          <a:p>
            <a:fld id="{D33EAAF3-CB13-43F6-9626-A0E307C7CA15}" type="datetimeFigureOut">
              <a:rPr lang="uk-UA" smtClean="0"/>
              <a:pPr/>
              <a:t>20.09.2026</a:t>
            </a:fld>
            <a:endParaRPr lang="uk-UA"/>
          </a:p>
        </p:txBody>
      </p:sp>
      <p:sp>
        <p:nvSpPr>
          <p:cNvPr id="6" name="Footer Placeholder 5"/>
          <p:cNvSpPr>
            <a:spLocks noGrp="1"/>
          </p:cNvSpPr>
          <p:nvPr>
            <p:ph type="ftr" sz="quarter" idx="11"/>
          </p:nvPr>
        </p:nvSpPr>
        <p:spPr/>
        <p:txBody>
          <a:bodyPr/>
          <a:lstStyle/>
          <a:p>
            <a:endParaRPr lang="uk-UA"/>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9F7BDBE4-28D2-428B-B578-E55D2E9BD1D3}" type="slidenum">
              <a:rPr lang="uk-UA" smtClean="0"/>
              <a:pPr/>
              <a:t>‹#›</a:t>
            </a:fld>
            <a:endParaRPr lang="uk-UA"/>
          </a:p>
        </p:txBody>
      </p:sp>
    </p:spTree>
    <p:extLst>
      <p:ext uri="{BB962C8B-B14F-4D97-AF65-F5344CB8AC3E}">
        <p14:creationId xmlns="" xmlns:p14="http://schemas.microsoft.com/office/powerpoint/2010/main" val="14945418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Порівняння">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uk-UA"/>
              <a:t>Клацніть, щоб редагувати стиль зразка заголовка</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uk-UA"/>
              <a:t>Клацніть, щоб відредагувати стилі зразків тексту</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uk-UA"/>
              <a:t>Клацніть, щоб відредагувати стилі зразків тексту</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endParaRPr lang="en-US" dirty="0"/>
          </a:p>
        </p:txBody>
      </p:sp>
      <p:sp>
        <p:nvSpPr>
          <p:cNvPr id="7" name="Date Placeholder 6"/>
          <p:cNvSpPr>
            <a:spLocks noGrp="1"/>
          </p:cNvSpPr>
          <p:nvPr>
            <p:ph type="dt" sz="half" idx="10"/>
          </p:nvPr>
        </p:nvSpPr>
        <p:spPr/>
        <p:txBody>
          <a:bodyPr/>
          <a:lstStyle/>
          <a:p>
            <a:fld id="{D33EAAF3-CB13-43F6-9626-A0E307C7CA15}" type="datetimeFigureOut">
              <a:rPr lang="uk-UA" smtClean="0"/>
              <a:pPr/>
              <a:t>20.09.2026</a:t>
            </a:fld>
            <a:endParaRPr lang="uk-UA"/>
          </a:p>
        </p:txBody>
      </p:sp>
      <p:sp>
        <p:nvSpPr>
          <p:cNvPr id="8" name="Footer Placeholder 7"/>
          <p:cNvSpPr>
            <a:spLocks noGrp="1"/>
          </p:cNvSpPr>
          <p:nvPr>
            <p:ph type="ftr" sz="quarter" idx="11"/>
          </p:nvPr>
        </p:nvSpPr>
        <p:spPr/>
        <p:txBody>
          <a:bodyPr/>
          <a:lstStyle/>
          <a:p>
            <a:endParaRPr lang="uk-UA"/>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9F7BDBE4-28D2-428B-B578-E55D2E9BD1D3}" type="slidenum">
              <a:rPr lang="uk-UA" smtClean="0"/>
              <a:pPr/>
              <a:t>‹#›</a:t>
            </a:fld>
            <a:endParaRPr lang="uk-UA"/>
          </a:p>
        </p:txBody>
      </p:sp>
    </p:spTree>
    <p:extLst>
      <p:ext uri="{BB962C8B-B14F-4D97-AF65-F5344CB8AC3E}">
        <p14:creationId xmlns="" xmlns:p14="http://schemas.microsoft.com/office/powerpoint/2010/main" val="10238488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Лише заголовок">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uk-UA"/>
              <a:t>Клацніть, щоб редагувати стиль зразка заголовка</a:t>
            </a:r>
            <a:endParaRPr lang="en-US" dirty="0"/>
          </a:p>
        </p:txBody>
      </p:sp>
      <p:sp>
        <p:nvSpPr>
          <p:cNvPr id="3" name="Date Placeholder 2"/>
          <p:cNvSpPr>
            <a:spLocks noGrp="1"/>
          </p:cNvSpPr>
          <p:nvPr>
            <p:ph type="dt" sz="half" idx="10"/>
          </p:nvPr>
        </p:nvSpPr>
        <p:spPr/>
        <p:txBody>
          <a:bodyPr/>
          <a:lstStyle/>
          <a:p>
            <a:fld id="{D33EAAF3-CB13-43F6-9626-A0E307C7CA15}" type="datetimeFigureOut">
              <a:rPr lang="uk-UA" smtClean="0"/>
              <a:pPr/>
              <a:t>20.09.2026</a:t>
            </a:fld>
            <a:endParaRPr lang="uk-UA"/>
          </a:p>
        </p:txBody>
      </p:sp>
      <p:sp>
        <p:nvSpPr>
          <p:cNvPr id="4" name="Footer Placeholder 3"/>
          <p:cNvSpPr>
            <a:spLocks noGrp="1"/>
          </p:cNvSpPr>
          <p:nvPr>
            <p:ph type="ftr" sz="quarter" idx="11"/>
          </p:nvPr>
        </p:nvSpPr>
        <p:spPr/>
        <p:txBody>
          <a:bodyPr/>
          <a:lstStyle/>
          <a:p>
            <a:endParaRPr lang="uk-UA"/>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9F7BDBE4-28D2-428B-B578-E55D2E9BD1D3}" type="slidenum">
              <a:rPr lang="uk-UA" smtClean="0"/>
              <a:pPr/>
              <a:t>‹#›</a:t>
            </a:fld>
            <a:endParaRPr lang="uk-UA"/>
          </a:p>
        </p:txBody>
      </p:sp>
    </p:spTree>
    <p:extLst>
      <p:ext uri="{BB962C8B-B14F-4D97-AF65-F5344CB8AC3E}">
        <p14:creationId xmlns="" xmlns:p14="http://schemas.microsoft.com/office/powerpoint/2010/main" val="22134651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ий слай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33EAAF3-CB13-43F6-9626-A0E307C7CA15}" type="datetimeFigureOut">
              <a:rPr lang="uk-UA" smtClean="0"/>
              <a:pPr/>
              <a:t>20.09.2026</a:t>
            </a:fld>
            <a:endParaRPr lang="uk-UA"/>
          </a:p>
        </p:txBody>
      </p:sp>
      <p:sp>
        <p:nvSpPr>
          <p:cNvPr id="3" name="Footer Placeholder 2"/>
          <p:cNvSpPr>
            <a:spLocks noGrp="1"/>
          </p:cNvSpPr>
          <p:nvPr>
            <p:ph type="ftr" sz="quarter" idx="11"/>
          </p:nvPr>
        </p:nvSpPr>
        <p:spPr/>
        <p:txBody>
          <a:bodyPr/>
          <a:lstStyle/>
          <a:p>
            <a:endParaRPr lang="uk-UA"/>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9F7BDBE4-28D2-428B-B578-E55D2E9BD1D3}" type="slidenum">
              <a:rPr lang="uk-UA" smtClean="0"/>
              <a:pPr/>
              <a:t>‹#›</a:t>
            </a:fld>
            <a:endParaRPr lang="uk-UA"/>
          </a:p>
        </p:txBody>
      </p:sp>
    </p:spTree>
    <p:extLst>
      <p:ext uri="{BB962C8B-B14F-4D97-AF65-F5344CB8AC3E}">
        <p14:creationId xmlns="" xmlns:p14="http://schemas.microsoft.com/office/powerpoint/2010/main" val="2786292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Вміст і підпис">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uk-UA"/>
              <a:t>Клацніть, щоб редагувати стиль зразка заголовка</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uk-UA"/>
              <a:t>Клацніть, щоб відредагувати стилі зразків тексту</a:t>
            </a:r>
          </a:p>
        </p:txBody>
      </p:sp>
      <p:sp>
        <p:nvSpPr>
          <p:cNvPr id="5" name="Date Placeholder 4"/>
          <p:cNvSpPr>
            <a:spLocks noGrp="1"/>
          </p:cNvSpPr>
          <p:nvPr>
            <p:ph type="dt" sz="half" idx="10"/>
          </p:nvPr>
        </p:nvSpPr>
        <p:spPr/>
        <p:txBody>
          <a:bodyPr/>
          <a:lstStyle/>
          <a:p>
            <a:fld id="{D33EAAF3-CB13-43F6-9626-A0E307C7CA15}" type="datetimeFigureOut">
              <a:rPr lang="uk-UA" smtClean="0"/>
              <a:pPr/>
              <a:t>20.09.2026</a:t>
            </a:fld>
            <a:endParaRPr lang="uk-UA"/>
          </a:p>
        </p:txBody>
      </p:sp>
      <p:sp>
        <p:nvSpPr>
          <p:cNvPr id="6" name="Footer Placeholder 5"/>
          <p:cNvSpPr>
            <a:spLocks noGrp="1"/>
          </p:cNvSpPr>
          <p:nvPr>
            <p:ph type="ftr" sz="quarter" idx="11"/>
          </p:nvPr>
        </p:nvSpPr>
        <p:spPr/>
        <p:txBody>
          <a:bodyPr/>
          <a:lstStyle/>
          <a:p>
            <a:endParaRPr lang="uk-UA"/>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9F7BDBE4-28D2-428B-B578-E55D2E9BD1D3}" type="slidenum">
              <a:rPr lang="uk-UA" smtClean="0"/>
              <a:pPr/>
              <a:t>‹#›</a:t>
            </a:fld>
            <a:endParaRPr lang="uk-UA"/>
          </a:p>
        </p:txBody>
      </p:sp>
    </p:spTree>
    <p:extLst>
      <p:ext uri="{BB962C8B-B14F-4D97-AF65-F5344CB8AC3E}">
        <p14:creationId xmlns="" xmlns:p14="http://schemas.microsoft.com/office/powerpoint/2010/main" val="5418573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і підпис">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uk-UA"/>
              <a:t>Клацніть, щоб редагувати стиль зразка заголовка</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uk-UA"/>
              <a:t>Клацніть піктограму, щоб додати зображення</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uk-UA"/>
              <a:t>Клацніть, щоб відредагувати стилі зразків тексту</a:t>
            </a:r>
          </a:p>
        </p:txBody>
      </p:sp>
      <p:sp>
        <p:nvSpPr>
          <p:cNvPr id="5" name="Date Placeholder 4"/>
          <p:cNvSpPr>
            <a:spLocks noGrp="1"/>
          </p:cNvSpPr>
          <p:nvPr>
            <p:ph type="dt" sz="half" idx="10"/>
          </p:nvPr>
        </p:nvSpPr>
        <p:spPr/>
        <p:txBody>
          <a:bodyPr/>
          <a:lstStyle/>
          <a:p>
            <a:fld id="{D33EAAF3-CB13-43F6-9626-A0E307C7CA15}" type="datetimeFigureOut">
              <a:rPr lang="uk-UA" smtClean="0"/>
              <a:pPr/>
              <a:t>20.09.2026</a:t>
            </a:fld>
            <a:endParaRPr lang="uk-UA"/>
          </a:p>
        </p:txBody>
      </p:sp>
      <p:sp>
        <p:nvSpPr>
          <p:cNvPr id="6" name="Footer Placeholder 5"/>
          <p:cNvSpPr>
            <a:spLocks noGrp="1"/>
          </p:cNvSpPr>
          <p:nvPr>
            <p:ph type="ftr" sz="quarter" idx="11"/>
          </p:nvPr>
        </p:nvSpPr>
        <p:spPr/>
        <p:txBody>
          <a:bodyPr/>
          <a:lstStyle/>
          <a:p>
            <a:endParaRPr lang="uk-UA"/>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9F7BDBE4-28D2-428B-B578-E55D2E9BD1D3}" type="slidenum">
              <a:rPr lang="uk-UA" smtClean="0"/>
              <a:pPr/>
              <a:t>‹#›</a:t>
            </a:fld>
            <a:endParaRPr lang="uk-UA"/>
          </a:p>
        </p:txBody>
      </p:sp>
    </p:spTree>
    <p:extLst>
      <p:ext uri="{BB962C8B-B14F-4D97-AF65-F5344CB8AC3E}">
        <p14:creationId xmlns="" xmlns:p14="http://schemas.microsoft.com/office/powerpoint/2010/main" val="36159784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Назва та підпис">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uk-UA"/>
              <a:t>Клацніть, щоб редагувати стиль зразка заголовка</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uk-UA"/>
              <a:t>Клацніть, щоб відредагувати стилі зразків тексту</a:t>
            </a:r>
          </a:p>
        </p:txBody>
      </p:sp>
      <p:sp>
        <p:nvSpPr>
          <p:cNvPr id="4" name="Date Placeholder 3"/>
          <p:cNvSpPr>
            <a:spLocks noGrp="1"/>
          </p:cNvSpPr>
          <p:nvPr>
            <p:ph type="dt" sz="half" idx="10"/>
          </p:nvPr>
        </p:nvSpPr>
        <p:spPr/>
        <p:txBody>
          <a:bodyPr/>
          <a:lstStyle/>
          <a:p>
            <a:fld id="{D33EAAF3-CB13-43F6-9626-A0E307C7CA15}" type="datetimeFigureOut">
              <a:rPr lang="uk-UA" smtClean="0"/>
              <a:pPr/>
              <a:t>20.09.2026</a:t>
            </a:fld>
            <a:endParaRPr lang="uk-UA"/>
          </a:p>
        </p:txBody>
      </p:sp>
      <p:sp>
        <p:nvSpPr>
          <p:cNvPr id="5" name="Footer Placeholder 4"/>
          <p:cNvSpPr>
            <a:spLocks noGrp="1"/>
          </p:cNvSpPr>
          <p:nvPr>
            <p:ph type="ftr" sz="quarter" idx="11"/>
          </p:nvPr>
        </p:nvSpPr>
        <p:spPr/>
        <p:txBody>
          <a:bodyPr/>
          <a:lstStyle/>
          <a:p>
            <a:endParaRPr lang="uk-UA"/>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9F7BDBE4-28D2-428B-B578-E55D2E9BD1D3}" type="slidenum">
              <a:rPr lang="uk-UA" smtClean="0"/>
              <a:pPr/>
              <a:t>‹#›</a:t>
            </a:fld>
            <a:endParaRPr lang="uk-UA"/>
          </a:p>
        </p:txBody>
      </p:sp>
    </p:spTree>
    <p:extLst>
      <p:ext uri="{BB962C8B-B14F-4D97-AF65-F5344CB8AC3E}">
        <p14:creationId xmlns="" xmlns:p14="http://schemas.microsoft.com/office/powerpoint/2010/main" val="41238359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Цитата з підписом">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uk-UA"/>
              <a:t>Клацніть, щоб редагувати стиль зразка заголовка</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uk-UA"/>
              <a:t>Клацніть, щоб відредагувати стилі зразків тексту</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uk-UA"/>
              <a:t>Клацніть, щоб відредагувати стилі зразків тексту</a:t>
            </a:r>
          </a:p>
        </p:txBody>
      </p:sp>
      <p:sp>
        <p:nvSpPr>
          <p:cNvPr id="4" name="Date Placeholder 3"/>
          <p:cNvSpPr>
            <a:spLocks noGrp="1"/>
          </p:cNvSpPr>
          <p:nvPr>
            <p:ph type="dt" sz="half" idx="10"/>
          </p:nvPr>
        </p:nvSpPr>
        <p:spPr/>
        <p:txBody>
          <a:bodyPr/>
          <a:lstStyle/>
          <a:p>
            <a:fld id="{D33EAAF3-CB13-43F6-9626-A0E307C7CA15}" type="datetimeFigureOut">
              <a:rPr lang="uk-UA" smtClean="0"/>
              <a:pPr/>
              <a:t>20.09.2026</a:t>
            </a:fld>
            <a:endParaRPr lang="uk-UA"/>
          </a:p>
        </p:txBody>
      </p:sp>
      <p:sp>
        <p:nvSpPr>
          <p:cNvPr id="5" name="Footer Placeholder 4"/>
          <p:cNvSpPr>
            <a:spLocks noGrp="1"/>
          </p:cNvSpPr>
          <p:nvPr>
            <p:ph type="ftr" sz="quarter" idx="11"/>
          </p:nvPr>
        </p:nvSpPr>
        <p:spPr/>
        <p:txBody>
          <a:bodyPr/>
          <a:lstStyle/>
          <a:p>
            <a:endParaRPr lang="uk-UA"/>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9F7BDBE4-28D2-428B-B578-E55D2E9BD1D3}" type="slidenum">
              <a:rPr lang="uk-UA" smtClean="0"/>
              <a:pPr/>
              <a:t>‹#›</a:t>
            </a:fld>
            <a:endParaRPr lang="uk-UA"/>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 xmlns:p14="http://schemas.microsoft.com/office/powerpoint/2010/main" val="251483359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Картка назви">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uk-UA"/>
              <a:t>Клацніть, щоб редагувати стиль зразка заголовка</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uk-UA"/>
              <a:t>Клацніть, щоб відредагувати стилі зразків тексту</a:t>
            </a:r>
          </a:p>
        </p:txBody>
      </p:sp>
      <p:sp>
        <p:nvSpPr>
          <p:cNvPr id="5" name="Date Placeholder 4"/>
          <p:cNvSpPr>
            <a:spLocks noGrp="1"/>
          </p:cNvSpPr>
          <p:nvPr>
            <p:ph type="dt" sz="half" idx="10"/>
          </p:nvPr>
        </p:nvSpPr>
        <p:spPr/>
        <p:txBody>
          <a:bodyPr/>
          <a:lstStyle/>
          <a:p>
            <a:fld id="{D33EAAF3-CB13-43F6-9626-A0E307C7CA15}" type="datetimeFigureOut">
              <a:rPr lang="uk-UA" smtClean="0"/>
              <a:pPr/>
              <a:t>20.09.2026</a:t>
            </a:fld>
            <a:endParaRPr lang="uk-UA"/>
          </a:p>
        </p:txBody>
      </p:sp>
      <p:sp>
        <p:nvSpPr>
          <p:cNvPr id="6" name="Footer Placeholder 5"/>
          <p:cNvSpPr>
            <a:spLocks noGrp="1"/>
          </p:cNvSpPr>
          <p:nvPr>
            <p:ph type="ftr" sz="quarter" idx="11"/>
          </p:nvPr>
        </p:nvSpPr>
        <p:spPr/>
        <p:txBody>
          <a:bodyPr/>
          <a:lstStyle/>
          <a:p>
            <a:endParaRPr lang="uk-UA"/>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9F7BDBE4-28D2-428B-B578-E55D2E9BD1D3}" type="slidenum">
              <a:rPr lang="uk-UA" smtClean="0"/>
              <a:pPr/>
              <a:t>‹#›</a:t>
            </a:fld>
            <a:endParaRPr lang="uk-UA"/>
          </a:p>
        </p:txBody>
      </p:sp>
    </p:spTree>
    <p:extLst>
      <p:ext uri="{BB962C8B-B14F-4D97-AF65-F5344CB8AC3E}">
        <p14:creationId xmlns="" xmlns:p14="http://schemas.microsoft.com/office/powerpoint/2010/main" val="324420641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Картка назви цитати">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uk-UA"/>
              <a:t>Клацніть, щоб редагувати стиль зразка заголовка</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uk-UA"/>
              <a:t>Клацніть, щоб відредагувати стилі зразків тексту</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uk-UA"/>
              <a:t>Клацніть, щоб відредагувати стилі зразків тексту</a:t>
            </a:r>
          </a:p>
        </p:txBody>
      </p:sp>
      <p:sp>
        <p:nvSpPr>
          <p:cNvPr id="5" name="Date Placeholder 4"/>
          <p:cNvSpPr>
            <a:spLocks noGrp="1"/>
          </p:cNvSpPr>
          <p:nvPr>
            <p:ph type="dt" sz="half" idx="10"/>
          </p:nvPr>
        </p:nvSpPr>
        <p:spPr/>
        <p:txBody>
          <a:bodyPr/>
          <a:lstStyle/>
          <a:p>
            <a:fld id="{D33EAAF3-CB13-43F6-9626-A0E307C7CA15}" type="datetimeFigureOut">
              <a:rPr lang="uk-UA" smtClean="0"/>
              <a:pPr/>
              <a:t>20.09.2026</a:t>
            </a:fld>
            <a:endParaRPr lang="uk-UA"/>
          </a:p>
        </p:txBody>
      </p:sp>
      <p:sp>
        <p:nvSpPr>
          <p:cNvPr id="6" name="Footer Placeholder 5"/>
          <p:cNvSpPr>
            <a:spLocks noGrp="1"/>
          </p:cNvSpPr>
          <p:nvPr>
            <p:ph type="ftr" sz="quarter" idx="11"/>
          </p:nvPr>
        </p:nvSpPr>
        <p:spPr/>
        <p:txBody>
          <a:bodyPr/>
          <a:lstStyle/>
          <a:p>
            <a:endParaRPr lang="uk-UA"/>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9F7BDBE4-28D2-428B-B578-E55D2E9BD1D3}" type="slidenum">
              <a:rPr lang="uk-UA" smtClean="0"/>
              <a:pPr/>
              <a:t>‹#›</a:t>
            </a:fld>
            <a:endParaRPr lang="uk-UA"/>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 xmlns:p14="http://schemas.microsoft.com/office/powerpoint/2010/main" val="354498407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Істина/хибність">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uk-UA"/>
              <a:t>Клацніть, щоб редагувати стиль зразка заголовка</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uk-UA"/>
              <a:t>Клацніть, щоб відредагувати стилі зразків тексту</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uk-UA"/>
              <a:t>Клацніть, щоб відредагувати стилі зразків тексту</a:t>
            </a:r>
          </a:p>
        </p:txBody>
      </p:sp>
      <p:sp>
        <p:nvSpPr>
          <p:cNvPr id="5" name="Date Placeholder 4"/>
          <p:cNvSpPr>
            <a:spLocks noGrp="1"/>
          </p:cNvSpPr>
          <p:nvPr>
            <p:ph type="dt" sz="half" idx="10"/>
          </p:nvPr>
        </p:nvSpPr>
        <p:spPr/>
        <p:txBody>
          <a:bodyPr/>
          <a:lstStyle/>
          <a:p>
            <a:fld id="{D33EAAF3-CB13-43F6-9626-A0E307C7CA15}" type="datetimeFigureOut">
              <a:rPr lang="uk-UA" smtClean="0"/>
              <a:pPr/>
              <a:t>20.09.2026</a:t>
            </a:fld>
            <a:endParaRPr lang="uk-UA"/>
          </a:p>
        </p:txBody>
      </p:sp>
      <p:sp>
        <p:nvSpPr>
          <p:cNvPr id="6" name="Footer Placeholder 5"/>
          <p:cNvSpPr>
            <a:spLocks noGrp="1"/>
          </p:cNvSpPr>
          <p:nvPr>
            <p:ph type="ftr" sz="quarter" idx="11"/>
          </p:nvPr>
        </p:nvSpPr>
        <p:spPr/>
        <p:txBody>
          <a:bodyPr/>
          <a:lstStyle/>
          <a:p>
            <a:endParaRPr lang="uk-UA"/>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9F7BDBE4-28D2-428B-B578-E55D2E9BD1D3}" type="slidenum">
              <a:rPr lang="uk-UA" smtClean="0"/>
              <a:pPr/>
              <a:t>‹#›</a:t>
            </a:fld>
            <a:endParaRPr lang="uk-UA"/>
          </a:p>
        </p:txBody>
      </p:sp>
    </p:spTree>
    <p:extLst>
      <p:ext uri="{BB962C8B-B14F-4D97-AF65-F5344CB8AC3E}">
        <p14:creationId xmlns="" xmlns:p14="http://schemas.microsoft.com/office/powerpoint/2010/main" val="243454511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Заголовок і вертикальний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uk-UA"/>
              <a:t>Клацніть, щоб редагувати стиль зразка заголовка</a:t>
            </a:r>
            <a:endParaRPr lang="en-US" dirty="0"/>
          </a:p>
        </p:txBody>
      </p:sp>
      <p:sp>
        <p:nvSpPr>
          <p:cNvPr id="3" name="Vertical Text Placeholder 2"/>
          <p:cNvSpPr>
            <a:spLocks noGrp="1"/>
          </p:cNvSpPr>
          <p:nvPr>
            <p:ph type="body" orient="vert" idx="1"/>
          </p:nvPr>
        </p:nvSpPr>
        <p:spPr/>
        <p:txBody>
          <a:bodyPr vert="eaVert" anchor="t"/>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endParaRPr lang="en-US" dirty="0"/>
          </a:p>
        </p:txBody>
      </p:sp>
      <p:sp>
        <p:nvSpPr>
          <p:cNvPr id="4" name="Date Placeholder 3"/>
          <p:cNvSpPr>
            <a:spLocks noGrp="1"/>
          </p:cNvSpPr>
          <p:nvPr>
            <p:ph type="dt" sz="half" idx="10"/>
          </p:nvPr>
        </p:nvSpPr>
        <p:spPr/>
        <p:txBody>
          <a:bodyPr/>
          <a:lstStyle/>
          <a:p>
            <a:fld id="{D33EAAF3-CB13-43F6-9626-A0E307C7CA15}" type="datetimeFigureOut">
              <a:rPr lang="uk-UA" smtClean="0"/>
              <a:pPr/>
              <a:t>20.09.2026</a:t>
            </a:fld>
            <a:endParaRPr lang="uk-UA"/>
          </a:p>
        </p:txBody>
      </p:sp>
      <p:sp>
        <p:nvSpPr>
          <p:cNvPr id="5" name="Footer Placeholder 4"/>
          <p:cNvSpPr>
            <a:spLocks noGrp="1"/>
          </p:cNvSpPr>
          <p:nvPr>
            <p:ph type="ftr" sz="quarter" idx="11"/>
          </p:nvPr>
        </p:nvSpPr>
        <p:spPr/>
        <p:txBody>
          <a:bodyPr/>
          <a:lstStyle/>
          <a:p>
            <a:endParaRPr lang="uk-UA"/>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9F7BDBE4-28D2-428B-B578-E55D2E9BD1D3}" type="slidenum">
              <a:rPr lang="uk-UA" smtClean="0"/>
              <a:pPr/>
              <a:t>‹#›</a:t>
            </a:fld>
            <a:endParaRPr lang="uk-UA"/>
          </a:p>
        </p:txBody>
      </p:sp>
    </p:spTree>
    <p:extLst>
      <p:ext uri="{BB962C8B-B14F-4D97-AF65-F5344CB8AC3E}">
        <p14:creationId xmlns="" xmlns:p14="http://schemas.microsoft.com/office/powerpoint/2010/main" val="174172972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Вертикальний заголовок і текст">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uk-UA"/>
              <a:t>Клацніть, щоб редагувати стиль зразка заголовка</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endParaRPr lang="en-US" dirty="0"/>
          </a:p>
        </p:txBody>
      </p:sp>
      <p:sp>
        <p:nvSpPr>
          <p:cNvPr id="4" name="Date Placeholder 3"/>
          <p:cNvSpPr>
            <a:spLocks noGrp="1"/>
          </p:cNvSpPr>
          <p:nvPr>
            <p:ph type="dt" sz="half" idx="10"/>
          </p:nvPr>
        </p:nvSpPr>
        <p:spPr/>
        <p:txBody>
          <a:bodyPr/>
          <a:lstStyle/>
          <a:p>
            <a:fld id="{D33EAAF3-CB13-43F6-9626-A0E307C7CA15}" type="datetimeFigureOut">
              <a:rPr lang="uk-UA" smtClean="0"/>
              <a:pPr/>
              <a:t>20.09.2026</a:t>
            </a:fld>
            <a:endParaRPr lang="uk-UA"/>
          </a:p>
        </p:txBody>
      </p:sp>
      <p:sp>
        <p:nvSpPr>
          <p:cNvPr id="5" name="Footer Placeholder 4"/>
          <p:cNvSpPr>
            <a:spLocks noGrp="1"/>
          </p:cNvSpPr>
          <p:nvPr>
            <p:ph type="ftr" sz="quarter" idx="11"/>
          </p:nvPr>
        </p:nvSpPr>
        <p:spPr/>
        <p:txBody>
          <a:bodyPr/>
          <a:lstStyle/>
          <a:p>
            <a:endParaRPr lang="uk-UA"/>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9F7BDBE4-28D2-428B-B578-E55D2E9BD1D3}" type="slidenum">
              <a:rPr lang="uk-UA" smtClean="0"/>
              <a:pPr/>
              <a:t>‹#›</a:t>
            </a:fld>
            <a:endParaRPr lang="uk-UA"/>
          </a:p>
        </p:txBody>
      </p:sp>
    </p:spTree>
    <p:extLst>
      <p:ext uri="{BB962C8B-B14F-4D97-AF65-F5344CB8AC3E}">
        <p14:creationId xmlns="" xmlns:p14="http://schemas.microsoft.com/office/powerpoint/2010/main" val="23370641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uk-UA"/>
              <a:t>Клацніть, щоб редагувати стиль зразка заголовка</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D33EAAF3-CB13-43F6-9626-A0E307C7CA15}" type="datetimeFigureOut">
              <a:rPr lang="uk-UA" smtClean="0"/>
              <a:pPr/>
              <a:t>20.09.2026</a:t>
            </a:fld>
            <a:endParaRPr lang="uk-UA"/>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uk-UA"/>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9F7BDBE4-28D2-428B-B578-E55D2E9BD1D3}" type="slidenum">
              <a:rPr lang="uk-UA" smtClean="0"/>
              <a:pPr/>
              <a:t>‹#›</a:t>
            </a:fld>
            <a:endParaRPr lang="uk-UA"/>
          </a:p>
        </p:txBody>
      </p:sp>
    </p:spTree>
    <p:extLst>
      <p:ext uri="{BB962C8B-B14F-4D97-AF65-F5344CB8AC3E}">
        <p14:creationId xmlns="" xmlns:p14="http://schemas.microsoft.com/office/powerpoint/2010/main" val="239495992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6.xml"/><Relationship Id="rId4" Type="http://schemas.openxmlformats.org/officeDocument/2006/relationships/image" Target="../media/image3.jpeg"/></Relationships>
</file>

<file path=ppt/slides/_rels/slide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jpe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jpe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20.jpe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22.jpe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24.jpe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image" Target="../media/image26.jpe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image" Target="../media/image28.jpe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 xmlns:a16="http://schemas.microsoft.com/office/drawing/2014/main" id="{0F2594A6-3A8F-4E2C-8194-219804644281}"/>
              </a:ext>
            </a:extLst>
          </p:cNvPr>
          <p:cNvSpPr>
            <a:spLocks noGrp="1"/>
          </p:cNvSpPr>
          <p:nvPr>
            <p:ph type="ctrTitle"/>
          </p:nvPr>
        </p:nvSpPr>
        <p:spPr>
          <a:xfrm>
            <a:off x="1524000" y="1122363"/>
            <a:ext cx="9144000" cy="2909310"/>
          </a:xfrm>
        </p:spPr>
        <p:txBody>
          <a:bodyPr>
            <a:normAutofit/>
          </a:bodyPr>
          <a:lstStyle/>
          <a:p>
            <a:pPr algn="ctr"/>
            <a:r>
              <a:rPr lang="ru-RU" sz="3600" b="1" dirty="0" err="1">
                <a:latin typeface="Times New Roman" panose="02020603050405020304" pitchFamily="18" charset="0"/>
                <a:cs typeface="Times New Roman" panose="02020603050405020304" pitchFamily="18" charset="0"/>
              </a:rPr>
              <a:t>Звіт</a:t>
            </a:r>
            <a:r>
              <a:rPr lang="ru-RU" sz="3600" b="1" dirty="0">
                <a:latin typeface="Times New Roman" panose="02020603050405020304" pitchFamily="18" charset="0"/>
                <a:cs typeface="Times New Roman" panose="02020603050405020304" pitchFamily="18" charset="0"/>
              </a:rPr>
              <a:t> директора </a:t>
            </a:r>
            <a:r>
              <a:rPr lang="ru-RU" sz="3600" b="1" dirty="0" err="1">
                <a:latin typeface="Times New Roman" panose="02020603050405020304" pitchFamily="18" charset="0"/>
                <a:cs typeface="Times New Roman" panose="02020603050405020304" pitchFamily="18" charset="0"/>
              </a:rPr>
              <a:t>Тийгласького</a:t>
            </a:r>
            <a:r>
              <a:rPr lang="ru-RU" sz="3600" b="1" dirty="0">
                <a:latin typeface="Times New Roman" panose="02020603050405020304" pitchFamily="18" charset="0"/>
                <a:cs typeface="Times New Roman" panose="02020603050405020304" pitchFamily="18" charset="0"/>
              </a:rPr>
              <a:t> ЗДО </a:t>
            </a:r>
            <a:br>
              <a:rPr lang="ru-RU" sz="3600" b="1" dirty="0">
                <a:latin typeface="Times New Roman" panose="02020603050405020304" pitchFamily="18" charset="0"/>
                <a:cs typeface="Times New Roman" panose="02020603050405020304" pitchFamily="18" charset="0"/>
              </a:rPr>
            </a:br>
            <a:r>
              <a:rPr lang="ru-RU" sz="3600" b="1" dirty="0">
                <a:latin typeface="Times New Roman" panose="02020603050405020304" pitchFamily="18" charset="0"/>
                <a:cs typeface="Times New Roman" panose="02020603050405020304" pitchFamily="18" charset="0"/>
              </a:rPr>
              <a:t>«</a:t>
            </a:r>
            <a:r>
              <a:rPr lang="ru-RU" sz="3600" b="1" dirty="0" err="1">
                <a:latin typeface="Times New Roman" panose="02020603050405020304" pitchFamily="18" charset="0"/>
                <a:cs typeface="Times New Roman" panose="02020603050405020304" pitchFamily="18" charset="0"/>
              </a:rPr>
              <a:t>Чарівний</a:t>
            </a:r>
            <a:r>
              <a:rPr lang="ru-RU" sz="3600" b="1" dirty="0">
                <a:latin typeface="Times New Roman" panose="02020603050405020304" pitchFamily="18" charset="0"/>
                <a:cs typeface="Times New Roman" panose="02020603050405020304" pitchFamily="18" charset="0"/>
              </a:rPr>
              <a:t> сад</a:t>
            </a:r>
            <a:r>
              <a:rPr lang="ru-RU" sz="3600" b="1" dirty="0" smtClean="0">
                <a:latin typeface="Times New Roman" panose="02020603050405020304" pitchFamily="18" charset="0"/>
                <a:cs typeface="Times New Roman" panose="02020603050405020304" pitchFamily="18" charset="0"/>
              </a:rPr>
              <a:t>»</a:t>
            </a:r>
            <a:br>
              <a:rPr lang="ru-RU" sz="3600" b="1" dirty="0" smtClean="0">
                <a:latin typeface="Times New Roman" panose="02020603050405020304" pitchFamily="18" charset="0"/>
                <a:cs typeface="Times New Roman" panose="02020603050405020304" pitchFamily="18" charset="0"/>
              </a:rPr>
            </a:br>
            <a:r>
              <a:rPr lang="ru-RU" sz="3600" b="1" dirty="0" err="1" smtClean="0">
                <a:latin typeface="Times New Roman" panose="02020603050405020304" pitchFamily="18" charset="0"/>
                <a:cs typeface="Times New Roman" panose="02020603050405020304" pitchFamily="18" charset="0"/>
              </a:rPr>
              <a:t>Анжеліки</a:t>
            </a:r>
            <a:r>
              <a:rPr lang="ru-RU" sz="3600" b="1" dirty="0" smtClean="0">
                <a:latin typeface="Times New Roman" panose="02020603050405020304" pitchFamily="18" charset="0"/>
                <a:cs typeface="Times New Roman" panose="02020603050405020304" pitchFamily="18" charset="0"/>
              </a:rPr>
              <a:t> КУРТАНИЧ </a:t>
            </a:r>
            <a:r>
              <a:rPr lang="ru-RU" sz="3600" b="1" dirty="0">
                <a:latin typeface="Times New Roman" panose="02020603050405020304" pitchFamily="18" charset="0"/>
                <a:cs typeface="Times New Roman" panose="02020603050405020304" pitchFamily="18" charset="0"/>
              </a:rPr>
              <a:t/>
            </a:r>
            <a:br>
              <a:rPr lang="ru-RU" sz="3600" b="1" dirty="0">
                <a:latin typeface="Times New Roman" panose="02020603050405020304" pitchFamily="18" charset="0"/>
                <a:cs typeface="Times New Roman" panose="02020603050405020304" pitchFamily="18" charset="0"/>
              </a:rPr>
            </a:br>
            <a:r>
              <a:rPr lang="ru-RU" sz="3600" b="1" dirty="0">
                <a:latin typeface="Times New Roman" panose="02020603050405020304" pitchFamily="18" charset="0"/>
                <a:cs typeface="Times New Roman" panose="02020603050405020304" pitchFamily="18" charset="0"/>
              </a:rPr>
              <a:t>за 2025–2026 </a:t>
            </a:r>
            <a:r>
              <a:rPr lang="ru-RU" sz="3600" b="1" dirty="0" err="1">
                <a:latin typeface="Times New Roman" panose="02020603050405020304" pitchFamily="18" charset="0"/>
                <a:cs typeface="Times New Roman" panose="02020603050405020304" pitchFamily="18" charset="0"/>
              </a:rPr>
              <a:t>навчальний</a:t>
            </a:r>
            <a:r>
              <a:rPr lang="ru-RU" sz="3600" b="1" dirty="0">
                <a:latin typeface="Times New Roman" panose="02020603050405020304" pitchFamily="18" charset="0"/>
                <a:cs typeface="Times New Roman" panose="02020603050405020304" pitchFamily="18" charset="0"/>
              </a:rPr>
              <a:t> </a:t>
            </a:r>
            <a:r>
              <a:rPr lang="ru-RU" sz="3600" b="1" dirty="0" err="1">
                <a:latin typeface="Times New Roman" panose="02020603050405020304" pitchFamily="18" charset="0"/>
                <a:cs typeface="Times New Roman" panose="02020603050405020304" pitchFamily="18" charset="0"/>
              </a:rPr>
              <a:t>рік</a:t>
            </a:r>
            <a:r>
              <a:rPr lang="ru-RU" sz="3600" b="1" dirty="0">
                <a:latin typeface="Times New Roman" panose="02020603050405020304" pitchFamily="18" charset="0"/>
                <a:cs typeface="Times New Roman" panose="02020603050405020304" pitchFamily="18" charset="0"/>
              </a:rPr>
              <a:t> </a:t>
            </a:r>
            <a:endParaRPr lang="uk-UA" sz="3600" b="1" dirty="0">
              <a:latin typeface="Times New Roman" panose="02020603050405020304" pitchFamily="18" charset="0"/>
              <a:cs typeface="Times New Roman" panose="02020603050405020304" pitchFamily="18" charset="0"/>
            </a:endParaRPr>
          </a:p>
        </p:txBody>
      </p:sp>
    </p:spTree>
    <p:extLst>
      <p:ext uri="{BB962C8B-B14F-4D97-AF65-F5344CB8AC3E}">
        <p14:creationId xmlns="" xmlns:p14="http://schemas.microsoft.com/office/powerpoint/2010/main" val="19653621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 xmlns:a16="http://schemas.microsoft.com/office/drawing/2014/main" id="{6AD0BD49-7D8E-404E-8933-56E689A9BE4A}"/>
              </a:ext>
            </a:extLst>
          </p:cNvPr>
          <p:cNvSpPr>
            <a:spLocks noGrp="1"/>
          </p:cNvSpPr>
          <p:nvPr>
            <p:ph type="title"/>
          </p:nvPr>
        </p:nvSpPr>
        <p:spPr>
          <a:xfrm>
            <a:off x="1025236" y="624109"/>
            <a:ext cx="10321637" cy="6233891"/>
          </a:xfrm>
        </p:spPr>
        <p:txBody>
          <a:bodyPr>
            <a:normAutofit/>
          </a:bodyPr>
          <a:lstStyle/>
          <a:p>
            <a:r>
              <a:rPr lang="uk-UA" sz="2000" b="1" i="0" dirty="0">
                <a:solidFill>
                  <a:schemeClr val="tx1"/>
                </a:solidFill>
                <a:effectLst/>
                <a:latin typeface="Times New Roman" panose="02020603050405020304" pitchFamily="18" charset="0"/>
                <a:cs typeface="Times New Roman" panose="02020603050405020304" pitchFamily="18" charset="0"/>
              </a:rPr>
              <a:t>                               </a:t>
            </a:r>
            <a:r>
              <a:rPr lang="uk-UA" sz="2000" b="1" i="0" dirty="0" err="1">
                <a:solidFill>
                  <a:schemeClr val="tx1"/>
                </a:solidFill>
                <a:effectLst/>
                <a:latin typeface="Times New Roman" panose="02020603050405020304" pitchFamily="18" charset="0"/>
                <a:cs typeface="Times New Roman" panose="02020603050405020304" pitchFamily="18" charset="0"/>
              </a:rPr>
              <a:t>Тийгласький</a:t>
            </a:r>
            <a:r>
              <a:rPr lang="uk-UA" sz="2000" b="1" i="0" dirty="0">
                <a:solidFill>
                  <a:schemeClr val="tx1"/>
                </a:solidFill>
                <a:effectLst/>
                <a:latin typeface="Times New Roman" panose="02020603050405020304" pitchFamily="18" charset="0"/>
                <a:cs typeface="Times New Roman" panose="02020603050405020304" pitchFamily="18" charset="0"/>
              </a:rPr>
              <a:t> заклад дошкільної освіти «Чарівний сад»</a:t>
            </a:r>
            <a:br>
              <a:rPr lang="uk-UA" sz="2000" b="1" i="0" dirty="0">
                <a:solidFill>
                  <a:schemeClr val="tx1"/>
                </a:solidFill>
                <a:effectLst/>
                <a:latin typeface="Times New Roman" panose="02020603050405020304" pitchFamily="18" charset="0"/>
                <a:cs typeface="Times New Roman" panose="02020603050405020304" pitchFamily="18" charset="0"/>
              </a:rPr>
            </a:br>
            <a:r>
              <a:rPr lang="uk-UA" sz="2000" b="1" i="0" dirty="0">
                <a:solidFill>
                  <a:schemeClr val="tx1"/>
                </a:solidFill>
                <a:effectLst/>
                <a:latin typeface="Times New Roman" panose="02020603050405020304" pitchFamily="18" charset="0"/>
                <a:cs typeface="Times New Roman" panose="02020603050405020304" pitchFamily="18" charset="0"/>
              </a:rPr>
              <a:t/>
            </a:r>
            <a:br>
              <a:rPr lang="uk-UA" sz="2000" b="1" i="0" dirty="0">
                <a:solidFill>
                  <a:schemeClr val="tx1"/>
                </a:solidFill>
                <a:effectLst/>
                <a:latin typeface="Times New Roman" panose="02020603050405020304" pitchFamily="18" charset="0"/>
                <a:cs typeface="Times New Roman" panose="02020603050405020304" pitchFamily="18" charset="0"/>
              </a:rPr>
            </a:br>
            <a:r>
              <a:rPr lang="uk-UA" sz="2000" b="1" i="0" dirty="0">
                <a:solidFill>
                  <a:schemeClr val="tx1"/>
                </a:solidFill>
                <a:effectLst/>
                <a:latin typeface="Times New Roman" panose="02020603050405020304" pitchFamily="18" charset="0"/>
                <a:cs typeface="Times New Roman" panose="02020603050405020304" pitchFamily="18" charset="0"/>
              </a:rPr>
              <a:t>Адреса:</a:t>
            </a:r>
            <a:r>
              <a:rPr lang="uk-UA" sz="2000" b="0" i="0" dirty="0">
                <a:solidFill>
                  <a:schemeClr val="tx1"/>
                </a:solidFill>
                <a:effectLst/>
                <a:latin typeface="Times New Roman" panose="02020603050405020304" pitchFamily="18" charset="0"/>
                <a:cs typeface="Times New Roman" panose="02020603050405020304" pitchFamily="18" charset="0"/>
              </a:rPr>
              <a:t> </a:t>
            </a:r>
            <a:br>
              <a:rPr lang="uk-UA" sz="2000" b="0" i="0" dirty="0">
                <a:solidFill>
                  <a:schemeClr val="tx1"/>
                </a:solidFill>
                <a:effectLst/>
                <a:latin typeface="Times New Roman" panose="02020603050405020304" pitchFamily="18" charset="0"/>
                <a:cs typeface="Times New Roman" panose="02020603050405020304" pitchFamily="18" charset="0"/>
              </a:rPr>
            </a:br>
            <a:r>
              <a:rPr lang="uk-UA" sz="2000" b="0" i="0" dirty="0">
                <a:solidFill>
                  <a:schemeClr val="tx1"/>
                </a:solidFill>
                <a:effectLst/>
                <a:latin typeface="Times New Roman" panose="02020603050405020304" pitchFamily="18" charset="0"/>
                <a:cs typeface="Times New Roman" panose="02020603050405020304" pitchFamily="18" charset="0"/>
              </a:rPr>
              <a:t>поштовий індекс – 89432, Закарпатська область, Ужгородський район, с. </a:t>
            </a:r>
            <a:r>
              <a:rPr lang="uk-UA" sz="2000" b="0" i="0" dirty="0" err="1">
                <a:solidFill>
                  <a:schemeClr val="tx1"/>
                </a:solidFill>
                <a:effectLst/>
                <a:latin typeface="Times New Roman" panose="02020603050405020304" pitchFamily="18" charset="0"/>
                <a:cs typeface="Times New Roman" panose="02020603050405020304" pitchFamily="18" charset="0"/>
              </a:rPr>
              <a:t>Тийглаш</a:t>
            </a:r>
            <a:r>
              <a:rPr lang="uk-UA" sz="2000" b="0" i="0" dirty="0">
                <a:solidFill>
                  <a:schemeClr val="tx1"/>
                </a:solidFill>
                <a:effectLst/>
                <a:latin typeface="Times New Roman" panose="02020603050405020304" pitchFamily="18" charset="0"/>
                <a:cs typeface="Times New Roman" panose="02020603050405020304" pitchFamily="18" charset="0"/>
              </a:rPr>
              <a:t>, вул. </a:t>
            </a:r>
            <a:r>
              <a:rPr lang="uk-UA" sz="2000" b="0" i="0" dirty="0" err="1">
                <a:solidFill>
                  <a:schemeClr val="tx1"/>
                </a:solidFill>
                <a:effectLst/>
                <a:latin typeface="Times New Roman" panose="02020603050405020304" pitchFamily="18" charset="0"/>
                <a:cs typeface="Times New Roman" panose="02020603050405020304" pitchFamily="18" charset="0"/>
              </a:rPr>
              <a:t>Сечені</a:t>
            </a:r>
            <a:r>
              <a:rPr lang="uk-UA" sz="2000" b="0" i="0" dirty="0">
                <a:solidFill>
                  <a:schemeClr val="tx1"/>
                </a:solidFill>
                <a:effectLst/>
                <a:latin typeface="Times New Roman" panose="02020603050405020304" pitchFamily="18" charset="0"/>
                <a:cs typeface="Times New Roman" panose="02020603050405020304" pitchFamily="18" charset="0"/>
              </a:rPr>
              <a:t>, буд. 8.</a:t>
            </a:r>
            <a:br>
              <a:rPr lang="uk-UA" sz="2000" b="0" i="0" dirty="0">
                <a:solidFill>
                  <a:schemeClr val="tx1"/>
                </a:solidFill>
                <a:effectLst/>
                <a:latin typeface="Times New Roman" panose="02020603050405020304" pitchFamily="18" charset="0"/>
                <a:cs typeface="Times New Roman" panose="02020603050405020304" pitchFamily="18" charset="0"/>
              </a:rPr>
            </a:br>
            <a:r>
              <a:rPr lang="uk-UA" sz="2000" b="0" i="0" dirty="0">
                <a:solidFill>
                  <a:schemeClr val="tx1"/>
                </a:solidFill>
                <a:effectLst/>
                <a:latin typeface="Times New Roman" panose="02020603050405020304" pitchFamily="18" charset="0"/>
                <a:cs typeface="Times New Roman" panose="02020603050405020304" pitchFamily="18" charset="0"/>
              </a:rPr>
              <a:t>Заклад розташований у двоповерховій будівлі.</a:t>
            </a:r>
            <a:br>
              <a:rPr lang="uk-UA" sz="2000" b="0" i="0" dirty="0">
                <a:solidFill>
                  <a:schemeClr val="tx1"/>
                </a:solidFill>
                <a:effectLst/>
                <a:latin typeface="Times New Roman" panose="02020603050405020304" pitchFamily="18" charset="0"/>
                <a:cs typeface="Times New Roman" panose="02020603050405020304" pitchFamily="18" charset="0"/>
              </a:rPr>
            </a:br>
            <a:r>
              <a:rPr lang="uk-UA" sz="2000" b="0" i="0" dirty="0">
                <a:solidFill>
                  <a:schemeClr val="tx1"/>
                </a:solidFill>
                <a:effectLst/>
                <a:latin typeface="Times New Roman" panose="02020603050405020304" pitchFamily="18" charset="0"/>
                <a:cs typeface="Times New Roman" panose="02020603050405020304" pitchFamily="18" charset="0"/>
              </a:rPr>
              <a:t>Потужність закладу дошкільної освіти складає 60 місць.</a:t>
            </a:r>
            <a:br>
              <a:rPr lang="uk-UA" sz="2000" b="0" i="0" dirty="0">
                <a:solidFill>
                  <a:schemeClr val="tx1"/>
                </a:solidFill>
                <a:effectLst/>
                <a:latin typeface="Times New Roman" panose="02020603050405020304" pitchFamily="18" charset="0"/>
                <a:cs typeface="Times New Roman" panose="02020603050405020304" pitchFamily="18" charset="0"/>
              </a:rPr>
            </a:br>
            <a:r>
              <a:rPr lang="uk-UA" sz="2000" b="0" i="0" dirty="0">
                <a:solidFill>
                  <a:schemeClr val="tx1"/>
                </a:solidFill>
                <a:effectLst/>
                <a:latin typeface="Times New Roman" panose="02020603050405020304" pitchFamily="18" charset="0"/>
                <a:cs typeface="Times New Roman" panose="02020603050405020304" pitchFamily="18" charset="0"/>
              </a:rPr>
              <a:t>Заклад працює за п'ятиденним робочим тижнем.</a:t>
            </a:r>
            <a:br>
              <a:rPr lang="uk-UA" sz="2000" b="0" i="0" dirty="0">
                <a:solidFill>
                  <a:schemeClr val="tx1"/>
                </a:solidFill>
                <a:effectLst/>
                <a:latin typeface="Times New Roman" panose="02020603050405020304" pitchFamily="18" charset="0"/>
                <a:cs typeface="Times New Roman" panose="02020603050405020304" pitchFamily="18" charset="0"/>
              </a:rPr>
            </a:br>
            <a:r>
              <a:rPr lang="uk-UA" sz="2000" b="0" i="0" dirty="0">
                <a:solidFill>
                  <a:schemeClr val="tx1"/>
                </a:solidFill>
                <a:effectLst/>
                <a:latin typeface="Times New Roman" panose="02020603050405020304" pitchFamily="18" charset="0"/>
                <a:cs typeface="Times New Roman" panose="02020603050405020304" pitchFamily="18" charset="0"/>
              </a:rPr>
              <a:t>Тривалість денного перебування - 10,5 годин.</a:t>
            </a:r>
            <a:br>
              <a:rPr lang="uk-UA" sz="2000" b="0" i="0" dirty="0">
                <a:solidFill>
                  <a:schemeClr val="tx1"/>
                </a:solidFill>
                <a:effectLst/>
                <a:latin typeface="Times New Roman" panose="02020603050405020304" pitchFamily="18" charset="0"/>
                <a:cs typeface="Times New Roman" panose="02020603050405020304" pitchFamily="18" charset="0"/>
              </a:rPr>
            </a:br>
            <a:r>
              <a:rPr lang="uk-UA" sz="2000" b="0" i="0" dirty="0" err="1">
                <a:solidFill>
                  <a:schemeClr val="tx1"/>
                </a:solidFill>
                <a:effectLst/>
                <a:latin typeface="Times New Roman" panose="02020603050405020304" pitchFamily="18" charset="0"/>
                <a:cs typeface="Times New Roman" panose="02020603050405020304" pitchFamily="18" charset="0"/>
              </a:rPr>
              <a:t>Тийгласький</a:t>
            </a:r>
            <a:r>
              <a:rPr lang="uk-UA" sz="2000" b="0" i="0" dirty="0">
                <a:solidFill>
                  <a:schemeClr val="tx1"/>
                </a:solidFill>
                <a:effectLst/>
                <a:latin typeface="Times New Roman" panose="02020603050405020304" pitchFamily="18" charset="0"/>
                <a:cs typeface="Times New Roman" panose="02020603050405020304" pitchFamily="18" charset="0"/>
              </a:rPr>
              <a:t> заклад дошкільної освіти знаходиться на межі двох сіл - </a:t>
            </a:r>
            <a:r>
              <a:rPr lang="uk-UA" sz="2000" b="1" i="0" dirty="0" err="1">
                <a:solidFill>
                  <a:schemeClr val="tx1"/>
                </a:solidFill>
                <a:effectLst/>
                <a:latin typeface="Times New Roman" panose="02020603050405020304" pitchFamily="18" charset="0"/>
                <a:cs typeface="Times New Roman" panose="02020603050405020304" pitchFamily="18" charset="0"/>
              </a:rPr>
              <a:t>Сюрте</a:t>
            </a:r>
            <a:r>
              <a:rPr lang="uk-UA" sz="2000" b="0" i="0" dirty="0">
                <a:solidFill>
                  <a:schemeClr val="tx1"/>
                </a:solidFill>
                <a:effectLst/>
                <a:latin typeface="Times New Roman" panose="02020603050405020304" pitchFamily="18" charset="0"/>
                <a:cs typeface="Times New Roman" panose="02020603050405020304" pitchFamily="18" charset="0"/>
              </a:rPr>
              <a:t> та </a:t>
            </a:r>
            <a:r>
              <a:rPr lang="uk-UA" sz="2000" b="1" i="0" dirty="0" err="1">
                <a:solidFill>
                  <a:schemeClr val="tx1"/>
                </a:solidFill>
                <a:effectLst/>
                <a:latin typeface="Times New Roman" panose="02020603050405020304" pitchFamily="18" charset="0"/>
                <a:cs typeface="Times New Roman" panose="02020603050405020304" pitchFamily="18" charset="0"/>
              </a:rPr>
              <a:t>Тийглаш</a:t>
            </a:r>
            <a:r>
              <a:rPr lang="uk-UA" sz="2000" b="0" i="0" dirty="0">
                <a:solidFill>
                  <a:schemeClr val="tx1"/>
                </a:solidFill>
                <a:effectLst/>
                <a:latin typeface="Times New Roman" panose="02020603050405020304" pitchFamily="18" charset="0"/>
                <a:cs typeface="Times New Roman" panose="02020603050405020304" pitchFamily="18" charset="0"/>
              </a:rPr>
              <a:t>.</a:t>
            </a:r>
            <a:br>
              <a:rPr lang="uk-UA" sz="2000" b="0" i="0" dirty="0">
                <a:solidFill>
                  <a:schemeClr val="tx1"/>
                </a:solidFill>
                <a:effectLst/>
                <a:latin typeface="Times New Roman" panose="02020603050405020304" pitchFamily="18" charset="0"/>
                <a:cs typeface="Times New Roman" panose="02020603050405020304" pitchFamily="18" charset="0"/>
              </a:rPr>
            </a:br>
            <a:r>
              <a:rPr lang="uk-UA" sz="2000" b="0" i="0" dirty="0">
                <a:solidFill>
                  <a:schemeClr val="tx1"/>
                </a:solidFill>
                <a:effectLst/>
                <a:latin typeface="Times New Roman" panose="02020603050405020304" pitchFamily="18" charset="0"/>
                <a:cs typeface="Times New Roman" panose="02020603050405020304" pitchFamily="18" charset="0"/>
              </a:rPr>
              <a:t>Садок функціонує з </a:t>
            </a:r>
            <a:r>
              <a:rPr lang="uk-UA" sz="2000" b="1" i="0" dirty="0">
                <a:solidFill>
                  <a:schemeClr val="tx1"/>
                </a:solidFill>
                <a:effectLst/>
                <a:latin typeface="Times New Roman" panose="02020603050405020304" pitchFamily="18" charset="0"/>
                <a:cs typeface="Times New Roman" panose="02020603050405020304" pitchFamily="18" charset="0"/>
              </a:rPr>
              <a:t>1987 року</a:t>
            </a:r>
            <a:r>
              <a:rPr lang="uk-UA" sz="2000" b="0" i="0" dirty="0">
                <a:solidFill>
                  <a:schemeClr val="tx1"/>
                </a:solidFill>
                <a:effectLst/>
                <a:latin typeface="Times New Roman" panose="02020603050405020304" pitchFamily="18" charset="0"/>
                <a:cs typeface="Times New Roman" panose="02020603050405020304" pitchFamily="18" charset="0"/>
              </a:rPr>
              <a:t>. Спочатку заклад знаходився у власності села </a:t>
            </a:r>
            <a:r>
              <a:rPr lang="uk-UA" sz="2000" b="0" i="0" dirty="0" err="1">
                <a:solidFill>
                  <a:schemeClr val="tx1"/>
                </a:solidFill>
                <a:effectLst/>
                <a:latin typeface="Times New Roman" panose="02020603050405020304" pitchFamily="18" charset="0"/>
                <a:cs typeface="Times New Roman" panose="02020603050405020304" pitchFamily="18" charset="0"/>
              </a:rPr>
              <a:t>Сюрте</a:t>
            </a:r>
            <a:r>
              <a:rPr lang="uk-UA" sz="2000" b="0" i="0" dirty="0">
                <a:solidFill>
                  <a:schemeClr val="tx1"/>
                </a:solidFill>
                <a:effectLst/>
                <a:latin typeface="Times New Roman" panose="02020603050405020304" pitchFamily="18" charset="0"/>
                <a:cs typeface="Times New Roman" panose="02020603050405020304" pitchFamily="18" charset="0"/>
              </a:rPr>
              <a:t>, але у </a:t>
            </a:r>
            <a:r>
              <a:rPr lang="uk-UA" sz="2000" b="1" i="0" dirty="0">
                <a:solidFill>
                  <a:schemeClr val="tx1"/>
                </a:solidFill>
                <a:effectLst/>
                <a:latin typeface="Times New Roman" panose="02020603050405020304" pitchFamily="18" charset="0"/>
                <a:cs typeface="Times New Roman" panose="02020603050405020304" pitchFamily="18" charset="0"/>
              </a:rPr>
              <a:t>2003 році</a:t>
            </a:r>
            <a:r>
              <a:rPr lang="uk-UA" sz="2000" b="0" i="0" dirty="0">
                <a:solidFill>
                  <a:schemeClr val="tx1"/>
                </a:solidFill>
                <a:effectLst/>
                <a:latin typeface="Times New Roman" panose="02020603050405020304" pitchFamily="18" charset="0"/>
                <a:cs typeface="Times New Roman" panose="02020603050405020304" pitchFamily="18" charset="0"/>
              </a:rPr>
              <a:t> був перейменований на </a:t>
            </a:r>
            <a:r>
              <a:rPr lang="uk-UA" sz="2000" b="0" i="0" dirty="0" err="1">
                <a:solidFill>
                  <a:schemeClr val="tx1"/>
                </a:solidFill>
                <a:effectLst/>
                <a:latin typeface="Times New Roman" panose="02020603050405020304" pitchFamily="18" charset="0"/>
                <a:cs typeface="Times New Roman" panose="02020603050405020304" pitchFamily="18" charset="0"/>
              </a:rPr>
              <a:t>Тийгласький</a:t>
            </a:r>
            <a:r>
              <a:rPr lang="uk-UA" sz="2000" b="0" i="0" dirty="0">
                <a:solidFill>
                  <a:schemeClr val="tx1"/>
                </a:solidFill>
                <a:effectLst/>
                <a:latin typeface="Times New Roman" panose="02020603050405020304" pitchFamily="18" charset="0"/>
                <a:cs typeface="Times New Roman" panose="02020603050405020304" pitchFamily="18" charset="0"/>
              </a:rPr>
              <a:t> ДНЗ і перейшов у власність села </a:t>
            </a:r>
            <a:r>
              <a:rPr lang="uk-UA" sz="2000" b="0" i="0" dirty="0" err="1">
                <a:solidFill>
                  <a:schemeClr val="tx1"/>
                </a:solidFill>
                <a:effectLst/>
                <a:latin typeface="Times New Roman" panose="02020603050405020304" pitchFamily="18" charset="0"/>
                <a:cs typeface="Times New Roman" panose="02020603050405020304" pitchFamily="18" charset="0"/>
              </a:rPr>
              <a:t>Тийглаш</a:t>
            </a:r>
            <a:r>
              <a:rPr lang="uk-UA" sz="2000" b="0" i="0" dirty="0">
                <a:solidFill>
                  <a:schemeClr val="tx1"/>
                </a:solidFill>
                <a:effectLst/>
                <a:latin typeface="Times New Roman" panose="02020603050405020304" pitchFamily="18" charset="0"/>
                <a:cs typeface="Times New Roman" panose="02020603050405020304" pitchFamily="18" charset="0"/>
              </a:rPr>
              <a:t>.</a:t>
            </a:r>
            <a:br>
              <a:rPr lang="uk-UA" sz="2000" b="0" i="0" dirty="0">
                <a:solidFill>
                  <a:schemeClr val="tx1"/>
                </a:solidFill>
                <a:effectLst/>
                <a:latin typeface="Times New Roman" panose="02020603050405020304" pitchFamily="18" charset="0"/>
                <a:cs typeface="Times New Roman" panose="02020603050405020304" pitchFamily="18" charset="0"/>
              </a:rPr>
            </a:br>
            <a:r>
              <a:rPr lang="uk-UA" sz="2000" b="0" i="0" dirty="0">
                <a:solidFill>
                  <a:schemeClr val="tx1"/>
                </a:solidFill>
                <a:effectLst/>
                <a:latin typeface="Times New Roman" panose="02020603050405020304" pitchFamily="18" charset="0"/>
                <a:cs typeface="Times New Roman" panose="02020603050405020304" pitchFamily="18" charset="0"/>
              </a:rPr>
              <a:t>Освітня робота проводилася у трьох вікових групах. </a:t>
            </a:r>
            <a:br>
              <a:rPr lang="uk-UA" sz="2000" b="0" i="0" dirty="0">
                <a:solidFill>
                  <a:schemeClr val="tx1"/>
                </a:solidFill>
                <a:effectLst/>
                <a:latin typeface="Times New Roman" panose="02020603050405020304" pitchFamily="18" charset="0"/>
                <a:cs typeface="Times New Roman" panose="02020603050405020304" pitchFamily="18" charset="0"/>
              </a:rPr>
            </a:br>
            <a:r>
              <a:rPr lang="uk-UA" sz="2000" b="0" i="0" dirty="0">
                <a:solidFill>
                  <a:schemeClr val="tx1"/>
                </a:solidFill>
                <a:effectLst/>
                <a:latin typeface="Times New Roman" panose="02020603050405020304" pitchFamily="18" charset="0"/>
                <a:cs typeface="Times New Roman" panose="02020603050405020304" pitchFamily="18" charset="0"/>
              </a:rPr>
              <a:t>Станом на </a:t>
            </a:r>
            <a:r>
              <a:rPr lang="uk-UA" sz="2000" b="1" i="0" dirty="0">
                <a:solidFill>
                  <a:schemeClr val="tx1"/>
                </a:solidFill>
                <a:effectLst/>
                <a:latin typeface="Times New Roman" panose="02020603050405020304" pitchFamily="18" charset="0"/>
                <a:cs typeface="Times New Roman" panose="02020603050405020304" pitchFamily="18" charset="0"/>
              </a:rPr>
              <a:t>1997 рік</a:t>
            </a:r>
            <a:r>
              <a:rPr lang="uk-UA" sz="2000" b="0" i="0" dirty="0">
                <a:solidFill>
                  <a:schemeClr val="tx1"/>
                </a:solidFill>
                <a:effectLst/>
                <a:latin typeface="Times New Roman" panose="02020603050405020304" pitchFamily="18" charset="0"/>
                <a:cs typeface="Times New Roman" panose="02020603050405020304" pitchFamily="18" charset="0"/>
              </a:rPr>
              <a:t> у закладі залишилися лише дві різновікові групи. </a:t>
            </a:r>
            <a:br>
              <a:rPr lang="uk-UA" sz="2000" b="0" i="0" dirty="0">
                <a:solidFill>
                  <a:schemeClr val="tx1"/>
                </a:solidFill>
                <a:effectLst/>
                <a:latin typeface="Times New Roman" panose="02020603050405020304" pitchFamily="18" charset="0"/>
                <a:cs typeface="Times New Roman" panose="02020603050405020304" pitchFamily="18" charset="0"/>
              </a:rPr>
            </a:br>
            <a:r>
              <a:rPr lang="uk-UA" sz="2000" b="0" i="0" dirty="0">
                <a:solidFill>
                  <a:schemeClr val="tx1"/>
                </a:solidFill>
                <a:effectLst/>
                <a:latin typeface="Times New Roman" panose="02020603050405020304" pitchFamily="18" charset="0"/>
                <a:cs typeface="Times New Roman" panose="02020603050405020304" pitchFamily="18" charset="0"/>
              </a:rPr>
              <a:t>У </a:t>
            </a:r>
            <a:r>
              <a:rPr lang="uk-UA" sz="2000" b="1" i="0" dirty="0">
                <a:solidFill>
                  <a:schemeClr val="tx1"/>
                </a:solidFill>
                <a:effectLst/>
                <a:latin typeface="Times New Roman" panose="02020603050405020304" pitchFamily="18" charset="0"/>
                <a:cs typeface="Times New Roman" panose="02020603050405020304" pitchFamily="18" charset="0"/>
              </a:rPr>
              <a:t>2018 році</a:t>
            </a:r>
            <a:r>
              <a:rPr lang="uk-UA" sz="2000" b="0" i="0" dirty="0">
                <a:solidFill>
                  <a:schemeClr val="tx1"/>
                </a:solidFill>
                <a:effectLst/>
                <a:latin typeface="Times New Roman" panose="02020603050405020304" pitchFamily="18" charset="0"/>
                <a:cs typeface="Times New Roman" panose="02020603050405020304" pitchFamily="18" charset="0"/>
              </a:rPr>
              <a:t> знову відкрили третю групу. </a:t>
            </a:r>
            <a:br>
              <a:rPr lang="uk-UA" sz="2000" b="0" i="0" dirty="0">
                <a:solidFill>
                  <a:schemeClr val="tx1"/>
                </a:solidFill>
                <a:effectLst/>
                <a:latin typeface="Times New Roman" panose="02020603050405020304" pitchFamily="18" charset="0"/>
                <a:cs typeface="Times New Roman" panose="02020603050405020304" pitchFamily="18" charset="0"/>
              </a:rPr>
            </a:br>
            <a:r>
              <a:rPr lang="uk-UA" sz="2000" b="0" i="0" dirty="0">
                <a:solidFill>
                  <a:schemeClr val="tx1"/>
                </a:solidFill>
                <a:effectLst/>
                <a:latin typeface="Times New Roman" panose="02020603050405020304" pitchFamily="18" charset="0"/>
                <a:cs typeface="Times New Roman" panose="02020603050405020304" pitchFamily="18" charset="0"/>
              </a:rPr>
              <a:t>З </a:t>
            </a:r>
            <a:r>
              <a:rPr lang="uk-UA" sz="2000" b="1" i="0" dirty="0">
                <a:solidFill>
                  <a:schemeClr val="tx1"/>
                </a:solidFill>
                <a:effectLst/>
                <a:latin typeface="Times New Roman" panose="02020603050405020304" pitchFamily="18" charset="0"/>
                <a:cs typeface="Times New Roman" panose="02020603050405020304" pitchFamily="18" charset="0"/>
              </a:rPr>
              <a:t>2022 року</a:t>
            </a:r>
            <a:r>
              <a:rPr lang="uk-UA" sz="2000" b="0" i="0" dirty="0">
                <a:solidFill>
                  <a:schemeClr val="tx1"/>
                </a:solidFill>
                <a:effectLst/>
                <a:latin typeface="Times New Roman" panose="02020603050405020304" pitchFamily="18" charset="0"/>
                <a:cs typeface="Times New Roman" panose="02020603050405020304" pitchFamily="18" charset="0"/>
              </a:rPr>
              <a:t> функціонують лише дві різновікові групи.</a:t>
            </a:r>
            <a:br>
              <a:rPr lang="uk-UA" sz="2000" b="0" i="0" dirty="0">
                <a:solidFill>
                  <a:schemeClr val="tx1"/>
                </a:solidFill>
                <a:effectLst/>
                <a:latin typeface="Times New Roman" panose="02020603050405020304" pitchFamily="18" charset="0"/>
                <a:cs typeface="Times New Roman" panose="02020603050405020304" pitchFamily="18" charset="0"/>
              </a:rPr>
            </a:br>
            <a:r>
              <a:rPr lang="uk-UA" sz="2000" b="0" i="0" dirty="0">
                <a:solidFill>
                  <a:schemeClr val="tx1"/>
                </a:solidFill>
                <a:effectLst/>
                <a:latin typeface="Times New Roman" panose="02020603050405020304" pitchFamily="18" charset="0"/>
                <a:cs typeface="Times New Roman" panose="02020603050405020304" pitchFamily="18" charset="0"/>
              </a:rPr>
              <a:t>У </a:t>
            </a:r>
            <a:r>
              <a:rPr lang="uk-UA" sz="2000" b="1" i="0" dirty="0">
                <a:solidFill>
                  <a:schemeClr val="tx1"/>
                </a:solidFill>
                <a:effectLst/>
                <a:latin typeface="Times New Roman" panose="02020603050405020304" pitchFamily="18" charset="0"/>
                <a:cs typeface="Times New Roman" panose="02020603050405020304" pitchFamily="18" charset="0"/>
              </a:rPr>
              <a:t>2021 році</a:t>
            </a:r>
            <a:r>
              <a:rPr lang="uk-UA" sz="2000" b="0" i="0" dirty="0">
                <a:solidFill>
                  <a:schemeClr val="tx1"/>
                </a:solidFill>
                <a:effectLst/>
                <a:latin typeface="Times New Roman" panose="02020603050405020304" pitchFamily="18" charset="0"/>
                <a:cs typeface="Times New Roman" panose="02020603050405020304" pitchFamily="18" charset="0"/>
              </a:rPr>
              <a:t> </a:t>
            </a:r>
            <a:r>
              <a:rPr lang="uk-UA" sz="2000" b="0" i="0" dirty="0" err="1">
                <a:solidFill>
                  <a:schemeClr val="tx1"/>
                </a:solidFill>
                <a:effectLst/>
                <a:latin typeface="Times New Roman" panose="02020603050405020304" pitchFamily="18" charset="0"/>
                <a:cs typeface="Times New Roman" panose="02020603050405020304" pitchFamily="18" charset="0"/>
              </a:rPr>
              <a:t>Тийгласький</a:t>
            </a:r>
            <a:r>
              <a:rPr lang="uk-UA" sz="2000" b="0" i="0" dirty="0">
                <a:solidFill>
                  <a:schemeClr val="tx1"/>
                </a:solidFill>
                <a:effectLst/>
                <a:latin typeface="Times New Roman" panose="02020603050405020304" pitchFamily="18" charset="0"/>
                <a:cs typeface="Times New Roman" panose="02020603050405020304" pitchFamily="18" charset="0"/>
              </a:rPr>
              <a:t> ДНЗ був перейменований на </a:t>
            </a:r>
            <a:r>
              <a:rPr lang="uk-UA" sz="2000" b="1" i="0" dirty="0" err="1">
                <a:solidFill>
                  <a:schemeClr val="tx1"/>
                </a:solidFill>
                <a:effectLst/>
                <a:latin typeface="Times New Roman" panose="02020603050405020304" pitchFamily="18" charset="0"/>
                <a:cs typeface="Times New Roman" panose="02020603050405020304" pitchFamily="18" charset="0"/>
              </a:rPr>
              <a:t>Тийгласький</a:t>
            </a:r>
            <a:r>
              <a:rPr lang="uk-UA" sz="2000" b="1" i="0" dirty="0">
                <a:solidFill>
                  <a:schemeClr val="tx1"/>
                </a:solidFill>
                <a:effectLst/>
                <a:latin typeface="Times New Roman" panose="02020603050405020304" pitchFamily="18" charset="0"/>
                <a:cs typeface="Times New Roman" panose="02020603050405020304" pitchFamily="18" charset="0"/>
              </a:rPr>
              <a:t> заклад дошкільної освіти «Чарівний сад»</a:t>
            </a:r>
            <a:r>
              <a:rPr lang="uk-UA" sz="2000" b="0" i="0" dirty="0">
                <a:solidFill>
                  <a:schemeClr val="tx1"/>
                </a:solidFill>
                <a:effectLst/>
                <a:latin typeface="Times New Roman" panose="02020603050405020304" pitchFamily="18" charset="0"/>
                <a:cs typeface="Times New Roman" panose="02020603050405020304" pitchFamily="18" charset="0"/>
              </a:rPr>
              <a:t> </a:t>
            </a:r>
            <a:r>
              <a:rPr lang="uk-UA" sz="2000" b="0" i="0" dirty="0" err="1">
                <a:solidFill>
                  <a:schemeClr val="tx1"/>
                </a:solidFill>
                <a:effectLst/>
                <a:latin typeface="Times New Roman" panose="02020603050405020304" pitchFamily="18" charset="0"/>
                <a:cs typeface="Times New Roman" panose="02020603050405020304" pitchFamily="18" charset="0"/>
              </a:rPr>
              <a:t>Сюртівської</a:t>
            </a:r>
            <a:r>
              <a:rPr lang="uk-UA" sz="2000" b="0" i="0" dirty="0">
                <a:solidFill>
                  <a:schemeClr val="tx1"/>
                </a:solidFill>
                <a:effectLst/>
                <a:latin typeface="Times New Roman" panose="02020603050405020304" pitchFamily="18" charset="0"/>
                <a:cs typeface="Times New Roman" panose="02020603050405020304" pitchFamily="18" charset="0"/>
              </a:rPr>
              <a:t> сільської ради Ужгородського району Закарпатської області.</a:t>
            </a:r>
            <a:br>
              <a:rPr lang="uk-UA" sz="2000" b="0" i="0" dirty="0">
                <a:solidFill>
                  <a:schemeClr val="tx1"/>
                </a:solidFill>
                <a:effectLst/>
                <a:latin typeface="Times New Roman" panose="02020603050405020304" pitchFamily="18" charset="0"/>
                <a:cs typeface="Times New Roman" panose="02020603050405020304" pitchFamily="18" charset="0"/>
              </a:rPr>
            </a:br>
            <a:endParaRPr lang="uk-UA" sz="20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 xmlns:p14="http://schemas.microsoft.com/office/powerpoint/2010/main" val="15843278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 xmlns:a16="http://schemas.microsoft.com/office/drawing/2014/main" id="{D166E87F-CAC4-48F2-A45A-B0EA926DEBF8}"/>
              </a:ext>
            </a:extLst>
          </p:cNvPr>
          <p:cNvSpPr>
            <a:spLocks noGrp="1"/>
          </p:cNvSpPr>
          <p:nvPr>
            <p:ph type="title"/>
          </p:nvPr>
        </p:nvSpPr>
        <p:spPr>
          <a:xfrm>
            <a:off x="1759528" y="624109"/>
            <a:ext cx="9745084" cy="5956800"/>
          </a:xfrm>
        </p:spPr>
        <p:txBody>
          <a:bodyPr>
            <a:normAutofit fontScale="90000"/>
          </a:bodyPr>
          <a:lstStyle/>
          <a:p>
            <a:r>
              <a:rPr lang="uk-UA" sz="2200" b="1"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ru-RU" sz="2700" b="1" dirty="0">
                <a:latin typeface="Times New Roman" panose="02020603050405020304" pitchFamily="18" charset="0"/>
                <a:cs typeface="Times New Roman" panose="02020603050405020304" pitchFamily="18" charset="0"/>
              </a:rPr>
              <a:t>Нормативно-</a:t>
            </a:r>
            <a:r>
              <a:rPr lang="ru-RU" sz="2700" b="1" dirty="0" err="1">
                <a:latin typeface="Times New Roman" panose="02020603050405020304" pitchFamily="18" charset="0"/>
                <a:cs typeface="Times New Roman" panose="02020603050405020304" pitchFamily="18" charset="0"/>
              </a:rPr>
              <a:t>правові</a:t>
            </a:r>
            <a:r>
              <a:rPr lang="ru-RU" sz="2700" b="1" dirty="0">
                <a:latin typeface="Times New Roman" panose="02020603050405020304" pitchFamily="18" charset="0"/>
                <a:cs typeface="Times New Roman" panose="02020603050405020304" pitchFamily="18" charset="0"/>
              </a:rPr>
              <a:t> та </a:t>
            </a:r>
            <a:r>
              <a:rPr lang="ru-RU" sz="2700" b="1" dirty="0" err="1">
                <a:latin typeface="Times New Roman" panose="02020603050405020304" pitchFamily="18" charset="0"/>
                <a:cs typeface="Times New Roman" panose="02020603050405020304" pitchFamily="18" charset="0"/>
              </a:rPr>
              <a:t>методологічні</a:t>
            </a:r>
            <a:r>
              <a:rPr lang="ru-RU" sz="2700" b="1" dirty="0">
                <a:latin typeface="Times New Roman" panose="02020603050405020304" pitchFamily="18" charset="0"/>
                <a:cs typeface="Times New Roman" panose="02020603050405020304" pitchFamily="18" charset="0"/>
              </a:rPr>
              <a:t> засади </a:t>
            </a:r>
            <a:r>
              <a:rPr lang="ru-RU" sz="2700" b="1" dirty="0" err="1">
                <a:latin typeface="Times New Roman" panose="02020603050405020304" pitchFamily="18" charset="0"/>
                <a:cs typeface="Times New Roman" panose="02020603050405020304" pitchFamily="18" charset="0"/>
              </a:rPr>
              <a:t>функціонування</a:t>
            </a:r>
            <a:r>
              <a:rPr lang="ru-RU" sz="2700" b="1" dirty="0">
                <a:latin typeface="Times New Roman" panose="02020603050405020304" pitchFamily="18" charset="0"/>
                <a:cs typeface="Times New Roman" panose="02020603050405020304" pitchFamily="18" charset="0"/>
              </a:rPr>
              <a:t>             закладу </a:t>
            </a:r>
            <a:r>
              <a:rPr lang="ru-RU" sz="2200" dirty="0">
                <a:latin typeface="Times New Roman" panose="02020603050405020304" pitchFamily="18" charset="0"/>
                <a:cs typeface="Times New Roman" panose="02020603050405020304" pitchFamily="18" charset="0"/>
              </a:rPr>
              <a:t/>
            </a:r>
            <a:br>
              <a:rPr lang="ru-RU" sz="2200" dirty="0">
                <a:latin typeface="Times New Roman" panose="02020603050405020304" pitchFamily="18" charset="0"/>
                <a:cs typeface="Times New Roman" panose="02020603050405020304" pitchFamily="18" charset="0"/>
              </a:rPr>
            </a:br>
            <a:r>
              <a:rPr lang="uk-UA" sz="2200" dirty="0" err="1">
                <a:effectLst/>
                <a:latin typeface="Times New Roman" panose="02020603050405020304" pitchFamily="18" charset="0"/>
                <a:ea typeface="Times New Roman" panose="02020603050405020304" pitchFamily="18" charset="0"/>
                <a:cs typeface="Times New Roman" panose="02020603050405020304" pitchFamily="18" charset="0"/>
              </a:rPr>
              <a:t>Тийгласький</a:t>
            </a:r>
            <a:r>
              <a:rPr lang="uk-UA" sz="2200" dirty="0">
                <a:effectLst/>
                <a:latin typeface="Times New Roman" panose="02020603050405020304" pitchFamily="18" charset="0"/>
                <a:ea typeface="Times New Roman" panose="02020603050405020304" pitchFamily="18" charset="0"/>
                <a:cs typeface="Times New Roman" panose="02020603050405020304" pitchFamily="18" charset="0"/>
              </a:rPr>
              <a:t> заклад дошкільної освіти </a:t>
            </a:r>
            <a:r>
              <a:rPr lang="uk-UA" sz="2200" b="1" dirty="0">
                <a:effectLst/>
                <a:latin typeface="Times New Roman" panose="02020603050405020304" pitchFamily="18" charset="0"/>
                <a:ea typeface="Times New Roman" panose="02020603050405020304" pitchFamily="18" charset="0"/>
                <a:cs typeface="Times New Roman" panose="02020603050405020304" pitchFamily="18" charset="0"/>
              </a:rPr>
              <a:t>,,Чарівний сад”   </a:t>
            </a:r>
            <a:r>
              <a:rPr lang="uk-UA" sz="2200" dirty="0" err="1">
                <a:effectLst/>
                <a:latin typeface="Times New Roman" panose="02020603050405020304" pitchFamily="18" charset="0"/>
                <a:ea typeface="Times New Roman" panose="02020603050405020304" pitchFamily="18" charset="0"/>
                <a:cs typeface="Times New Roman" panose="02020603050405020304" pitchFamily="18" charset="0"/>
              </a:rPr>
              <a:t>Сюртівської</a:t>
            </a:r>
            <a:r>
              <a:rPr lang="uk-UA" sz="2200" dirty="0">
                <a:effectLst/>
                <a:latin typeface="Times New Roman" panose="02020603050405020304" pitchFamily="18" charset="0"/>
                <a:ea typeface="Times New Roman" panose="02020603050405020304" pitchFamily="18" charset="0"/>
                <a:cs typeface="Times New Roman" panose="02020603050405020304" pitchFamily="18" charset="0"/>
              </a:rPr>
              <a:t>  сільської ради Ужгородського району Закарпатської області (далі – </a:t>
            </a:r>
            <a:r>
              <a:rPr lang="uk-UA" sz="2200" dirty="0" err="1">
                <a:effectLst/>
                <a:latin typeface="Times New Roman" panose="02020603050405020304" pitchFamily="18" charset="0"/>
                <a:ea typeface="Times New Roman" panose="02020603050405020304" pitchFamily="18" charset="0"/>
                <a:cs typeface="Times New Roman" panose="02020603050405020304" pitchFamily="18" charset="0"/>
              </a:rPr>
              <a:t>Тийгласький</a:t>
            </a:r>
            <a:r>
              <a:rPr lang="uk-UA" sz="2200" dirty="0">
                <a:effectLst/>
                <a:latin typeface="Times New Roman" panose="02020603050405020304" pitchFamily="18" charset="0"/>
                <a:ea typeface="Times New Roman" panose="02020603050405020304" pitchFamily="18" charset="0"/>
                <a:cs typeface="Times New Roman" panose="02020603050405020304" pitchFamily="18" charset="0"/>
              </a:rPr>
              <a:t> ЗДО, заклад, дитячий садок) здійснює свою діяльність відповідно до нормативних документів та законодавчих актів України:</a:t>
            </a:r>
            <a:br>
              <a:rPr lang="uk-UA" sz="2200" dirty="0">
                <a:effectLst/>
                <a:latin typeface="Times New Roman" panose="02020603050405020304" pitchFamily="18" charset="0"/>
                <a:ea typeface="Times New Roman" panose="02020603050405020304" pitchFamily="18" charset="0"/>
                <a:cs typeface="Times New Roman" panose="02020603050405020304" pitchFamily="18" charset="0"/>
              </a:rPr>
            </a:br>
            <a:r>
              <a:rPr lang="uk-UA" sz="2200" dirty="0">
                <a:latin typeface="Times New Roman" panose="02020603050405020304" pitchFamily="18" charset="0"/>
                <a:cs typeface="Times New Roman" panose="02020603050405020304" pitchFamily="18" charset="0"/>
              </a:rPr>
              <a:t>У своїй діяльності заклад керувався Конституцією України, законами України «Про освіту», «Про дошкільну освіту», «Про охорону дитинства», «Про повну загальну середню освіту», Конвенцією ООН про права дитини, Базовим компонентом дошкільної освіти (Державним стандартом дошкільної освіти), а також іншими нормативно-правовими актами Кабінету Міністрів України, Міністерства освіти і науки України, рішеннями органів місцевого самоврядування та засновника закладу. </a:t>
            </a:r>
            <a:r>
              <a:rPr lang="uk-UA" sz="2200" dirty="0">
                <a:effectLst/>
                <a:latin typeface="Times New Roman" panose="02020603050405020304" pitchFamily="18" charset="0"/>
                <a:ea typeface="Times New Roman" panose="02020603050405020304" pitchFamily="18" charset="0"/>
                <a:cs typeface="Times New Roman" panose="02020603050405020304" pitchFamily="18" charset="0"/>
              </a:rPr>
              <a:t/>
            </a:r>
            <a:br>
              <a:rPr lang="uk-UA" sz="2200" dirty="0">
                <a:effectLst/>
                <a:latin typeface="Times New Roman" panose="02020603050405020304" pitchFamily="18" charset="0"/>
                <a:ea typeface="Times New Roman" panose="02020603050405020304" pitchFamily="18" charset="0"/>
                <a:cs typeface="Times New Roman" panose="02020603050405020304" pitchFamily="18" charset="0"/>
              </a:rPr>
            </a:br>
            <a:r>
              <a:rPr lang="uk-UA" sz="2200" dirty="0">
                <a:latin typeface="Times New Roman" panose="02020603050405020304" pitchFamily="18" charset="0"/>
                <a:cs typeface="Times New Roman" panose="02020603050405020304" pitchFamily="18" charset="0"/>
              </a:rPr>
              <a:t>Упродовж звітного періоду нормативно-правове регулювання діяльності закладу також здійснювалося відповідно до нових підзаконних актів Кабінету Міністрів України та Міністерства освіти і науки України, зокрема:</a:t>
            </a:r>
            <a:br>
              <a:rPr lang="uk-UA" sz="2200" dirty="0">
                <a:latin typeface="Times New Roman" panose="02020603050405020304" pitchFamily="18" charset="0"/>
                <a:cs typeface="Times New Roman" panose="02020603050405020304" pitchFamily="18" charset="0"/>
              </a:rPr>
            </a:br>
            <a:r>
              <a:rPr lang="uk-UA" sz="2200" dirty="0">
                <a:latin typeface="Times New Roman" panose="02020603050405020304" pitchFamily="18" charset="0"/>
                <a:cs typeface="Times New Roman" panose="02020603050405020304" pitchFamily="18" charset="0"/>
              </a:rPr>
              <a:t> 1. Постанови Кабінету Міністрів України від 07.07.2025 № 818 «Деякі питання про типи організації освітньої діяльності закладів дошкільної освіти», якою запроваджено нові гнучкі форми організації діяльності ЗДО, зокрема мобільні, сімейні, мережеві заклади та міні-садочки. </a:t>
            </a:r>
            <a:endParaRPr lang="uk-UA" sz="1600" dirty="0">
              <a:latin typeface="Times New Roman" panose="02020603050405020304" pitchFamily="18" charset="0"/>
              <a:cs typeface="Times New Roman" panose="02020603050405020304" pitchFamily="18" charset="0"/>
            </a:endParaRPr>
          </a:p>
        </p:txBody>
      </p:sp>
    </p:spTree>
    <p:extLst>
      <p:ext uri="{BB962C8B-B14F-4D97-AF65-F5344CB8AC3E}">
        <p14:creationId xmlns="" xmlns:p14="http://schemas.microsoft.com/office/powerpoint/2010/main" val="23776169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 xmlns:a16="http://schemas.microsoft.com/office/drawing/2014/main" id="{97FA4CE5-FAAB-4481-AD14-99734CC30C3C}"/>
              </a:ext>
            </a:extLst>
          </p:cNvPr>
          <p:cNvSpPr>
            <a:spLocks noGrp="1"/>
          </p:cNvSpPr>
          <p:nvPr>
            <p:ph type="title"/>
          </p:nvPr>
        </p:nvSpPr>
        <p:spPr>
          <a:xfrm>
            <a:off x="1510146" y="624109"/>
            <a:ext cx="9994466" cy="5541163"/>
          </a:xfrm>
        </p:spPr>
        <p:txBody>
          <a:bodyPr>
            <a:normAutofit/>
          </a:bodyPr>
          <a:lstStyle/>
          <a:p>
            <a:r>
              <a:rPr lang="uk-UA" sz="2000" dirty="0">
                <a:solidFill>
                  <a:schemeClr val="tx1"/>
                </a:solidFill>
                <a:latin typeface="Times New Roman" panose="02020603050405020304" pitchFamily="18" charset="0"/>
                <a:cs typeface="Times New Roman" panose="02020603050405020304" pitchFamily="18" charset="0"/>
              </a:rPr>
              <a:t>2. Постанови Кабінету Міністрів України від 04.04.2025 № 381 щодо утворення та функціонування спеціальних груп для дітей з особливими освітніми потребами, що посилила нормативне забезпечення інклюзивної освіти та створення умов для реалізації права кожної дитини на якісну освіту; </a:t>
            </a:r>
            <a:br>
              <a:rPr lang="uk-UA" sz="2000" dirty="0">
                <a:solidFill>
                  <a:schemeClr val="tx1"/>
                </a:solidFill>
                <a:latin typeface="Times New Roman" panose="02020603050405020304" pitchFamily="18" charset="0"/>
                <a:cs typeface="Times New Roman" panose="02020603050405020304" pitchFamily="18" charset="0"/>
              </a:rPr>
            </a:br>
            <a:r>
              <a:rPr lang="uk-UA" sz="2000" dirty="0">
                <a:solidFill>
                  <a:schemeClr val="tx1"/>
                </a:solidFill>
                <a:latin typeface="Times New Roman" panose="02020603050405020304" pitchFamily="18" charset="0"/>
                <a:cs typeface="Times New Roman" panose="02020603050405020304" pitchFamily="18" charset="0"/>
              </a:rPr>
              <a:t>3. Постанови Кабінету Міністрів України від 07.07.2025 № 817 «Про затвердження Положення про спеціальний дитячий садок», яка врегулювала особливості функціонування спеціальних закладів дошкільної освіти</a:t>
            </a:r>
            <a:br>
              <a:rPr lang="uk-UA" sz="2000" dirty="0">
                <a:solidFill>
                  <a:schemeClr val="tx1"/>
                </a:solidFill>
                <a:latin typeface="Times New Roman" panose="02020603050405020304" pitchFamily="18" charset="0"/>
                <a:cs typeface="Times New Roman" panose="02020603050405020304" pitchFamily="18" charset="0"/>
              </a:rPr>
            </a:br>
            <a:r>
              <a:rPr lang="uk-UA" sz="2000" dirty="0">
                <a:solidFill>
                  <a:schemeClr val="tx1"/>
                </a:solidFill>
                <a:latin typeface="Times New Roman" panose="02020603050405020304" pitchFamily="18" charset="0"/>
                <a:cs typeface="Times New Roman" panose="02020603050405020304" pitchFamily="18" charset="0"/>
              </a:rPr>
              <a:t> 4. наказів Міністерства освіти і науки України щодо затвердження нових положень про форми здобуття дошкільної освіти: </a:t>
            </a:r>
            <a:br>
              <a:rPr lang="uk-UA" sz="2000" dirty="0">
                <a:solidFill>
                  <a:schemeClr val="tx1"/>
                </a:solidFill>
                <a:latin typeface="Times New Roman" panose="02020603050405020304" pitchFamily="18" charset="0"/>
                <a:cs typeface="Times New Roman" panose="02020603050405020304" pitchFamily="18" charset="0"/>
              </a:rPr>
            </a:br>
            <a:r>
              <a:rPr lang="uk-UA" sz="2000" dirty="0">
                <a:solidFill>
                  <a:schemeClr val="tx1"/>
                </a:solidFill>
                <a:latin typeface="Times New Roman" panose="02020603050405020304" pitchFamily="18" charset="0"/>
                <a:cs typeface="Times New Roman" panose="02020603050405020304" pitchFamily="18" charset="0"/>
              </a:rPr>
              <a:t>мережеву форму (наказ № 746 від 21.05.2025),</a:t>
            </a:r>
            <a:br>
              <a:rPr lang="uk-UA" sz="2000" dirty="0">
                <a:solidFill>
                  <a:schemeClr val="tx1"/>
                </a:solidFill>
                <a:latin typeface="Times New Roman" panose="02020603050405020304" pitchFamily="18" charset="0"/>
                <a:cs typeface="Times New Roman" panose="02020603050405020304" pitchFamily="18" charset="0"/>
              </a:rPr>
            </a:br>
            <a:r>
              <a:rPr lang="uk-UA" sz="2000" dirty="0">
                <a:solidFill>
                  <a:schemeClr val="tx1"/>
                </a:solidFill>
                <a:latin typeface="Times New Roman" panose="02020603050405020304" pitchFamily="18" charset="0"/>
                <a:cs typeface="Times New Roman" panose="02020603050405020304" pitchFamily="18" charset="0"/>
              </a:rPr>
              <a:t>сімейну (домашню) форму (наказ № 786 від 28.05.2025), </a:t>
            </a:r>
            <a:br>
              <a:rPr lang="uk-UA" sz="2000" dirty="0">
                <a:solidFill>
                  <a:schemeClr val="tx1"/>
                </a:solidFill>
                <a:latin typeface="Times New Roman" panose="02020603050405020304" pitchFamily="18" charset="0"/>
                <a:cs typeface="Times New Roman" panose="02020603050405020304" pitchFamily="18" charset="0"/>
              </a:rPr>
            </a:br>
            <a:r>
              <a:rPr lang="uk-UA" sz="2000" dirty="0">
                <a:solidFill>
                  <a:schemeClr val="tx1"/>
                </a:solidFill>
                <a:latin typeface="Times New Roman" panose="02020603050405020304" pitchFamily="18" charset="0"/>
                <a:cs typeface="Times New Roman" panose="02020603050405020304" pitchFamily="18" charset="0"/>
              </a:rPr>
              <a:t>очну (денну) форму (наказ № 747 від 21.05.2025), </a:t>
            </a:r>
            <a:br>
              <a:rPr lang="uk-UA" sz="2000" dirty="0">
                <a:solidFill>
                  <a:schemeClr val="tx1"/>
                </a:solidFill>
                <a:latin typeface="Times New Roman" panose="02020603050405020304" pitchFamily="18" charset="0"/>
                <a:cs typeface="Times New Roman" panose="02020603050405020304" pitchFamily="18" charset="0"/>
              </a:rPr>
            </a:br>
            <a:r>
              <a:rPr lang="uk-UA" sz="2000" dirty="0">
                <a:solidFill>
                  <a:schemeClr val="tx1"/>
                </a:solidFill>
                <a:latin typeface="Times New Roman" panose="02020603050405020304" pitchFamily="18" charset="0"/>
                <a:cs typeface="Times New Roman" panose="02020603050405020304" pitchFamily="18" charset="0"/>
              </a:rPr>
              <a:t>дистанційну форму (наказ № 926 від 26.06.2025),</a:t>
            </a:r>
            <a:br>
              <a:rPr lang="uk-UA" sz="2000" dirty="0">
                <a:solidFill>
                  <a:schemeClr val="tx1"/>
                </a:solidFill>
                <a:latin typeface="Times New Roman" panose="02020603050405020304" pitchFamily="18" charset="0"/>
                <a:cs typeface="Times New Roman" panose="02020603050405020304" pitchFamily="18" charset="0"/>
              </a:rPr>
            </a:br>
            <a:r>
              <a:rPr lang="uk-UA" sz="2000" dirty="0">
                <a:solidFill>
                  <a:schemeClr val="tx1"/>
                </a:solidFill>
                <a:latin typeface="Times New Roman" panose="02020603050405020304" pitchFamily="18" charset="0"/>
                <a:cs typeface="Times New Roman" panose="02020603050405020304" pitchFamily="18" charset="0"/>
              </a:rPr>
              <a:t>педагогічний патронаж (наказ № 895 від 23.06.2025).</a:t>
            </a:r>
            <a:endParaRPr lang="uk-UA" sz="2000" dirty="0">
              <a:solidFill>
                <a:schemeClr val="tx1"/>
              </a:solidFill>
            </a:endParaRPr>
          </a:p>
        </p:txBody>
      </p:sp>
    </p:spTree>
    <p:extLst>
      <p:ext uri="{BB962C8B-B14F-4D97-AF65-F5344CB8AC3E}">
        <p14:creationId xmlns="" xmlns:p14="http://schemas.microsoft.com/office/powerpoint/2010/main" val="19365445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 xmlns:a16="http://schemas.microsoft.com/office/drawing/2014/main" id="{C84E036A-99BA-45DF-BCE9-50343FBAE628}"/>
              </a:ext>
            </a:extLst>
          </p:cNvPr>
          <p:cNvSpPr>
            <a:spLocks noGrp="1"/>
          </p:cNvSpPr>
          <p:nvPr>
            <p:ph type="title"/>
          </p:nvPr>
        </p:nvSpPr>
        <p:spPr>
          <a:xfrm>
            <a:off x="1787236" y="624110"/>
            <a:ext cx="9717375" cy="5721272"/>
          </a:xfrm>
        </p:spPr>
        <p:txBody>
          <a:bodyPr>
            <a:noAutofit/>
          </a:bodyPr>
          <a:lstStyle/>
          <a:p>
            <a:r>
              <a:rPr lang="uk-UA" sz="2400" b="1" dirty="0">
                <a:latin typeface="Times New Roman" panose="02020603050405020304" pitchFamily="18" charset="0"/>
                <a:cs typeface="Times New Roman" panose="02020603050405020304" pitchFamily="18" charset="0"/>
              </a:rPr>
              <a:t>Організаційно-педагогічна мережа та аналіз контингенту здобувачів освіти</a:t>
            </a:r>
            <a:br>
              <a:rPr lang="uk-UA" sz="2400" b="1" dirty="0">
                <a:latin typeface="Times New Roman" panose="02020603050405020304" pitchFamily="18" charset="0"/>
                <a:cs typeface="Times New Roman" panose="02020603050405020304" pitchFamily="18" charset="0"/>
              </a:rPr>
            </a:br>
            <a:r>
              <a:rPr lang="uk-UA" sz="2400" dirty="0">
                <a:latin typeface="Times New Roman" panose="02020603050405020304" pitchFamily="18" charset="0"/>
                <a:cs typeface="Times New Roman" panose="02020603050405020304" pitchFamily="18" charset="0"/>
              </a:rPr>
              <a:t/>
            </a:r>
            <a:br>
              <a:rPr lang="uk-UA" sz="2400" dirty="0">
                <a:latin typeface="Times New Roman" panose="02020603050405020304" pitchFamily="18" charset="0"/>
                <a:cs typeface="Times New Roman" panose="02020603050405020304" pitchFamily="18" charset="0"/>
              </a:rPr>
            </a:br>
            <a:r>
              <a:rPr lang="uk-UA" sz="2000" dirty="0">
                <a:latin typeface="Times New Roman" panose="02020603050405020304" pitchFamily="18" charset="0"/>
                <a:cs typeface="Times New Roman" panose="02020603050405020304" pitchFamily="18" charset="0"/>
              </a:rPr>
              <a:t>Освітній процес у </a:t>
            </a:r>
            <a:r>
              <a:rPr lang="uk-UA" sz="2000" b="1" dirty="0" err="1">
                <a:latin typeface="Times New Roman" panose="02020603050405020304" pitchFamily="18" charset="0"/>
                <a:cs typeface="Times New Roman" panose="02020603050405020304" pitchFamily="18" charset="0"/>
              </a:rPr>
              <a:t>Тийглаському</a:t>
            </a:r>
            <a:r>
              <a:rPr lang="uk-UA" sz="2000" b="1" dirty="0">
                <a:latin typeface="Times New Roman" panose="02020603050405020304" pitchFamily="18" charset="0"/>
                <a:cs typeface="Times New Roman" panose="02020603050405020304" pitchFamily="18" charset="0"/>
              </a:rPr>
              <a:t> ЗДО </a:t>
            </a:r>
            <a:r>
              <a:rPr lang="uk-UA" sz="2000" dirty="0">
                <a:latin typeface="Times New Roman" panose="02020603050405020304" pitchFamily="18" charset="0"/>
                <a:cs typeface="Times New Roman" panose="02020603050405020304" pitchFamily="18" charset="0"/>
              </a:rPr>
              <a:t>організовано відповідно до вимог чинного законодавства України у сфері освіти, Базового компонента дошкільної освіти,</a:t>
            </a:r>
            <a:r>
              <a:rPr lang="uk-UA" sz="1800" dirty="0">
                <a:effectLst/>
                <a:latin typeface="Times New Roman" panose="02020603050405020304" pitchFamily="18" charset="0"/>
                <a:ea typeface="Times New Roman" panose="02020603050405020304" pitchFamily="18" charset="0"/>
              </a:rPr>
              <a:t> освітньої програми </a:t>
            </a:r>
            <a:r>
              <a:rPr lang="uk-UA" sz="1800" b="1" dirty="0">
                <a:effectLst/>
                <a:latin typeface="Times New Roman" panose="02020603050405020304" pitchFamily="18" charset="0"/>
                <a:ea typeface="Times New Roman" panose="02020603050405020304" pitchFamily="18" charset="0"/>
              </a:rPr>
              <a:t>«Українське </a:t>
            </a:r>
            <a:r>
              <a:rPr lang="uk-UA" sz="1800" b="1" dirty="0" err="1">
                <a:effectLst/>
                <a:latin typeface="Times New Roman" panose="02020603050405020304" pitchFamily="18" charset="0"/>
                <a:ea typeface="Times New Roman" panose="02020603050405020304" pitchFamily="18" charset="0"/>
              </a:rPr>
              <a:t>дошкілля</a:t>
            </a:r>
            <a:r>
              <a:rPr lang="uk-UA" sz="1800" b="1" dirty="0">
                <a:effectLst/>
                <a:latin typeface="Times New Roman" panose="02020603050405020304" pitchFamily="18" charset="0"/>
                <a:ea typeface="Times New Roman" panose="02020603050405020304" pitchFamily="18" charset="0"/>
              </a:rPr>
              <a:t>»</a:t>
            </a:r>
            <a:r>
              <a:rPr lang="uk-UA" sz="2000" b="1" dirty="0">
                <a:latin typeface="Times New Roman" panose="02020603050405020304" pitchFamily="18" charset="0"/>
                <a:cs typeface="Times New Roman" panose="02020603050405020304" pitchFamily="18" charset="0"/>
              </a:rPr>
              <a:t> </a:t>
            </a:r>
            <a:r>
              <a:rPr lang="uk-UA" sz="2000" dirty="0">
                <a:latin typeface="Times New Roman" panose="02020603050405020304" pitchFamily="18" charset="0"/>
                <a:cs typeface="Times New Roman" panose="02020603050405020304" pitchFamily="18" charset="0"/>
              </a:rPr>
              <a:t>санітарного регламенту та установчих документів закладу. </a:t>
            </a:r>
            <a:br>
              <a:rPr lang="uk-UA" sz="2000" dirty="0">
                <a:latin typeface="Times New Roman" panose="02020603050405020304" pitchFamily="18" charset="0"/>
                <a:cs typeface="Times New Roman" panose="02020603050405020304" pitchFamily="18" charset="0"/>
              </a:rPr>
            </a:br>
            <a:r>
              <a:rPr lang="uk-UA" sz="2000" dirty="0">
                <a:latin typeface="Times New Roman" panose="02020603050405020304" pitchFamily="18" charset="0"/>
                <a:cs typeface="Times New Roman" panose="02020603050405020304" pitchFamily="18" charset="0"/>
              </a:rPr>
              <a:t> </a:t>
            </a:r>
            <a:r>
              <a:rPr lang="uk-UA" sz="2000" dirty="0" err="1">
                <a:latin typeface="Times New Roman" panose="02020603050405020304" pitchFamily="18" charset="0"/>
                <a:cs typeface="Times New Roman" panose="02020603050405020304" pitchFamily="18" charset="0"/>
              </a:rPr>
              <a:t>Проєктна</a:t>
            </a:r>
            <a:r>
              <a:rPr lang="uk-UA" sz="2000" dirty="0">
                <a:latin typeface="Times New Roman" panose="02020603050405020304" pitchFamily="18" charset="0"/>
                <a:cs typeface="Times New Roman" panose="02020603050405020304" pitchFamily="18" charset="0"/>
              </a:rPr>
              <a:t> потужність будівлі становить 60 місць.</a:t>
            </a:r>
            <a:br>
              <a:rPr lang="uk-UA" sz="2000" dirty="0">
                <a:latin typeface="Times New Roman" panose="02020603050405020304" pitchFamily="18" charset="0"/>
                <a:cs typeface="Times New Roman" panose="02020603050405020304" pitchFamily="18" charset="0"/>
              </a:rPr>
            </a:br>
            <a:r>
              <a:rPr lang="uk-UA" sz="2000" dirty="0">
                <a:latin typeface="Times New Roman" panose="02020603050405020304" pitchFamily="18" charset="0"/>
                <a:cs typeface="Times New Roman" panose="02020603050405020304" pitchFamily="18" charset="0"/>
              </a:rPr>
              <a:t> У 2025–2026 навчальному році контингент вихованців складає 40 дітей;</a:t>
            </a:r>
            <a:br>
              <a:rPr lang="uk-UA" sz="2000" dirty="0">
                <a:latin typeface="Times New Roman" panose="02020603050405020304" pitchFamily="18" charset="0"/>
                <a:cs typeface="Times New Roman" panose="02020603050405020304" pitchFamily="18" charset="0"/>
              </a:rPr>
            </a:br>
            <a:r>
              <a:rPr lang="uk-UA" sz="2000" dirty="0">
                <a:latin typeface="Times New Roman" panose="02020603050405020304" pitchFamily="18" charset="0"/>
                <a:cs typeface="Times New Roman" panose="02020603050405020304" pitchFamily="18" charset="0"/>
              </a:rPr>
              <a:t>Освітній процес у закладі здійснюється— українською та угорською мовою. </a:t>
            </a:r>
            <a:br>
              <a:rPr lang="uk-UA" sz="2000" dirty="0">
                <a:latin typeface="Times New Roman" panose="02020603050405020304" pitchFamily="18" charset="0"/>
                <a:cs typeface="Times New Roman" panose="02020603050405020304" pitchFamily="18" charset="0"/>
              </a:rPr>
            </a:br>
            <a:r>
              <a:rPr lang="uk-UA" sz="2000" dirty="0">
                <a:latin typeface="Times New Roman" panose="02020603050405020304" pitchFamily="18" charset="0"/>
                <a:cs typeface="Times New Roman" panose="02020603050405020304" pitchFamily="18" charset="0"/>
              </a:rPr>
              <a:t>Режим роботи закладу — п’ятиденний, із 10,5-годинним перебуванням дітей</a:t>
            </a:r>
            <a:br>
              <a:rPr lang="uk-UA" sz="2000" dirty="0">
                <a:latin typeface="Times New Roman" panose="02020603050405020304" pitchFamily="18" charset="0"/>
                <a:cs typeface="Times New Roman" panose="02020603050405020304" pitchFamily="18" charset="0"/>
              </a:rPr>
            </a:br>
            <a:r>
              <a:rPr lang="uk-UA" sz="2000" dirty="0">
                <a:latin typeface="Times New Roman" panose="02020603050405020304" pitchFamily="18" charset="0"/>
                <a:cs typeface="Times New Roman" panose="02020603050405020304" pitchFamily="18" charset="0"/>
              </a:rPr>
              <a:t> (з 07:30 до 18:00), що забезпечує можливість повноцінного догляду, виховання та розвитку дітей відповідно до потреб сімей вихованців і соціального запиту громади. </a:t>
            </a:r>
            <a:br>
              <a:rPr lang="uk-UA" sz="2000" dirty="0">
                <a:latin typeface="Times New Roman" panose="02020603050405020304" pitchFamily="18" charset="0"/>
                <a:cs typeface="Times New Roman" panose="02020603050405020304" pitchFamily="18" charset="0"/>
              </a:rPr>
            </a:br>
            <a:r>
              <a:rPr lang="uk-UA" sz="2000" dirty="0">
                <a:latin typeface="Times New Roman" panose="02020603050405020304" pitchFamily="18" charset="0"/>
                <a:cs typeface="Times New Roman" panose="02020603050405020304" pitchFamily="18" charset="0"/>
              </a:rPr>
              <a:t>У 2025–2026 навчальному році в закладі функціонували 2 різновікові групи</a:t>
            </a:r>
            <a:r>
              <a:rPr lang="uk-UA" sz="2000" dirty="0" smtClean="0">
                <a:latin typeface="Times New Roman" panose="02020603050405020304" pitchFamily="18" charset="0"/>
                <a:cs typeface="Times New Roman" panose="02020603050405020304" pitchFamily="18" charset="0"/>
              </a:rPr>
              <a:t>:</a:t>
            </a:r>
            <a:br>
              <a:rPr lang="uk-UA" sz="2000" dirty="0" smtClean="0">
                <a:latin typeface="Times New Roman" panose="02020603050405020304" pitchFamily="18" charset="0"/>
                <a:cs typeface="Times New Roman" panose="02020603050405020304" pitchFamily="18" charset="0"/>
              </a:rPr>
            </a:br>
            <a:r>
              <a:rPr lang="uk-UA" sz="2000" dirty="0" smtClean="0">
                <a:latin typeface="Times New Roman" panose="02020603050405020304" pitchFamily="18" charset="0"/>
                <a:cs typeface="Times New Roman" panose="02020603050405020304" pitchFamily="18" charset="0"/>
              </a:rPr>
              <a:t>-  </a:t>
            </a:r>
            <a:r>
              <a:rPr lang="uk-UA" sz="2000" dirty="0" err="1" smtClean="0">
                <a:latin typeface="Times New Roman" panose="02020603050405020304" pitchFamily="18" charset="0"/>
                <a:cs typeface="Times New Roman" panose="02020603050405020304" pitchFamily="18" charset="0"/>
              </a:rPr>
              <a:t>“Веселка”-</a:t>
            </a:r>
            <a:r>
              <a:rPr lang="uk-UA" sz="2000" dirty="0" smtClean="0">
                <a:latin typeface="Times New Roman" panose="02020603050405020304" pitchFamily="18" charset="0"/>
                <a:cs typeface="Times New Roman" panose="02020603050405020304" pitchFamily="18" charset="0"/>
              </a:rPr>
              <a:t> старша різновікова група (</a:t>
            </a:r>
            <a:r>
              <a:rPr lang="uk-UA" sz="2000" dirty="0" err="1" smtClean="0">
                <a:latin typeface="Times New Roman" panose="02020603050405020304" pitchFamily="18" charset="0"/>
                <a:cs typeface="Times New Roman" panose="02020603050405020304" pitchFamily="18" charset="0"/>
              </a:rPr>
              <a:t>вихователь-</a:t>
            </a:r>
            <a:r>
              <a:rPr lang="uk-UA" sz="2000" dirty="0" smtClean="0">
                <a:latin typeface="Times New Roman" panose="02020603050405020304" pitchFamily="18" charset="0"/>
                <a:cs typeface="Times New Roman" panose="02020603050405020304" pitchFamily="18" charset="0"/>
              </a:rPr>
              <a:t> </a:t>
            </a:r>
            <a:r>
              <a:rPr lang="uk-UA" sz="2000" dirty="0" err="1" smtClean="0">
                <a:latin typeface="Times New Roman" panose="02020603050405020304" pitchFamily="18" charset="0"/>
                <a:cs typeface="Times New Roman" panose="02020603050405020304" pitchFamily="18" charset="0"/>
              </a:rPr>
              <a:t>Чуха</a:t>
            </a:r>
            <a:r>
              <a:rPr lang="uk-UA" sz="2000" dirty="0" smtClean="0">
                <a:latin typeface="Times New Roman" panose="02020603050405020304" pitchFamily="18" charset="0"/>
                <a:cs typeface="Times New Roman" panose="02020603050405020304" pitchFamily="18" charset="0"/>
              </a:rPr>
              <a:t> </a:t>
            </a:r>
            <a:r>
              <a:rPr lang="uk-UA" sz="2000" dirty="0" err="1" smtClean="0">
                <a:latin typeface="Times New Roman" panose="02020603050405020304" pitchFamily="18" charset="0"/>
                <a:cs typeface="Times New Roman" panose="02020603050405020304" pitchFamily="18" charset="0"/>
              </a:rPr>
              <a:t>Тімея</a:t>
            </a:r>
            <a:r>
              <a:rPr lang="uk-UA" sz="2000" dirty="0" smtClean="0">
                <a:latin typeface="Times New Roman" panose="02020603050405020304" pitchFamily="18" charset="0"/>
                <a:cs typeface="Times New Roman" panose="02020603050405020304" pitchFamily="18" charset="0"/>
              </a:rPr>
              <a:t> Олександрівна)</a:t>
            </a:r>
            <a:br>
              <a:rPr lang="uk-UA" sz="2000" dirty="0" smtClean="0">
                <a:latin typeface="Times New Roman" panose="02020603050405020304" pitchFamily="18" charset="0"/>
                <a:cs typeface="Times New Roman" panose="02020603050405020304" pitchFamily="18" charset="0"/>
              </a:rPr>
            </a:br>
            <a:r>
              <a:rPr lang="uk-UA" sz="2000" dirty="0" smtClean="0">
                <a:latin typeface="Times New Roman" panose="02020603050405020304" pitchFamily="18" charset="0"/>
                <a:cs typeface="Times New Roman" panose="02020603050405020304" pitchFamily="18" charset="0"/>
              </a:rPr>
              <a:t>- </a:t>
            </a:r>
            <a:r>
              <a:rPr lang="uk-UA" sz="2000" dirty="0" err="1" smtClean="0">
                <a:latin typeface="Times New Roman" panose="02020603050405020304" pitchFamily="18" charset="0"/>
                <a:cs typeface="Times New Roman" panose="02020603050405020304" pitchFamily="18" charset="0"/>
              </a:rPr>
              <a:t>”Білочка”-</a:t>
            </a:r>
            <a:r>
              <a:rPr lang="uk-UA" sz="2000" dirty="0" smtClean="0">
                <a:latin typeface="Times New Roman" panose="02020603050405020304" pitchFamily="18" charset="0"/>
                <a:cs typeface="Times New Roman" panose="02020603050405020304" pitchFamily="18" charset="0"/>
              </a:rPr>
              <a:t>  середня різновікова група (</a:t>
            </a:r>
            <a:r>
              <a:rPr lang="uk-UA" sz="2000" dirty="0" err="1" smtClean="0">
                <a:latin typeface="Times New Roman" panose="02020603050405020304" pitchFamily="18" charset="0"/>
                <a:cs typeface="Times New Roman" panose="02020603050405020304" pitchFamily="18" charset="0"/>
              </a:rPr>
              <a:t>вихователь-</a:t>
            </a:r>
            <a:r>
              <a:rPr lang="uk-UA" sz="2000" dirty="0" smtClean="0">
                <a:latin typeface="Times New Roman" panose="02020603050405020304" pitchFamily="18" charset="0"/>
                <a:cs typeface="Times New Roman" panose="02020603050405020304" pitchFamily="18" charset="0"/>
              </a:rPr>
              <a:t> Горбач </a:t>
            </a:r>
            <a:r>
              <a:rPr lang="uk-UA" sz="2000" dirty="0" err="1" smtClean="0">
                <a:latin typeface="Times New Roman" panose="02020603050405020304" pitchFamily="18" charset="0"/>
                <a:cs typeface="Times New Roman" panose="02020603050405020304" pitchFamily="18" charset="0"/>
              </a:rPr>
              <a:t>Тімея</a:t>
            </a:r>
            <a:r>
              <a:rPr lang="uk-UA" sz="2000" dirty="0" smtClean="0">
                <a:latin typeface="Times New Roman" panose="02020603050405020304" pitchFamily="18" charset="0"/>
                <a:cs typeface="Times New Roman" panose="02020603050405020304" pitchFamily="18" charset="0"/>
              </a:rPr>
              <a:t> </a:t>
            </a:r>
            <a:r>
              <a:rPr lang="uk-UA" sz="2000" dirty="0" err="1" smtClean="0">
                <a:latin typeface="Times New Roman" panose="02020603050405020304" pitchFamily="18" charset="0"/>
                <a:cs typeface="Times New Roman" panose="02020603050405020304" pitchFamily="18" charset="0"/>
              </a:rPr>
              <a:t>Людвиківна</a:t>
            </a:r>
            <a:r>
              <a:rPr lang="uk-UA" sz="2000" dirty="0" smtClean="0">
                <a:latin typeface="Times New Roman" panose="02020603050405020304" pitchFamily="18" charset="0"/>
                <a:cs typeface="Times New Roman" panose="02020603050405020304" pitchFamily="18" charset="0"/>
              </a:rPr>
              <a:t>)</a:t>
            </a:r>
            <a:br>
              <a:rPr lang="uk-UA" sz="2000" dirty="0" smtClean="0">
                <a:latin typeface="Times New Roman" panose="02020603050405020304" pitchFamily="18" charset="0"/>
                <a:cs typeface="Times New Roman" panose="02020603050405020304" pitchFamily="18" charset="0"/>
              </a:rPr>
            </a:br>
            <a:r>
              <a:rPr lang="uk-UA" sz="2000" dirty="0">
                <a:latin typeface="Times New Roman" panose="02020603050405020304" pitchFamily="18" charset="0"/>
                <a:cs typeface="Times New Roman" panose="02020603050405020304" pitchFamily="18" charset="0"/>
              </a:rPr>
              <a:t/>
            </a:r>
            <a:br>
              <a:rPr lang="uk-UA" sz="2000" dirty="0">
                <a:latin typeface="Times New Roman" panose="02020603050405020304" pitchFamily="18" charset="0"/>
                <a:cs typeface="Times New Roman" panose="02020603050405020304" pitchFamily="18" charset="0"/>
              </a:rPr>
            </a:br>
            <a:r>
              <a:rPr lang="uk-UA" sz="2000" dirty="0">
                <a:latin typeface="Times New Roman" panose="02020603050405020304" pitchFamily="18" charset="0"/>
                <a:cs typeface="Times New Roman" panose="02020603050405020304" pitchFamily="18" charset="0"/>
              </a:rPr>
              <a:t/>
            </a:r>
            <a:br>
              <a:rPr lang="uk-UA" sz="2000" dirty="0">
                <a:latin typeface="Times New Roman" panose="02020603050405020304" pitchFamily="18" charset="0"/>
                <a:cs typeface="Times New Roman" panose="02020603050405020304" pitchFamily="18" charset="0"/>
              </a:rPr>
            </a:br>
            <a:r>
              <a:rPr lang="uk-UA" sz="2000" dirty="0">
                <a:latin typeface="Times New Roman" panose="02020603050405020304" pitchFamily="18" charset="0"/>
                <a:cs typeface="Times New Roman" panose="02020603050405020304" pitchFamily="18" charset="0"/>
              </a:rPr>
              <a:t/>
            </a:r>
            <a:br>
              <a:rPr lang="uk-UA" sz="2000" dirty="0">
                <a:latin typeface="Times New Roman" panose="02020603050405020304" pitchFamily="18" charset="0"/>
                <a:cs typeface="Times New Roman" panose="02020603050405020304" pitchFamily="18" charset="0"/>
              </a:rPr>
            </a:br>
            <a:r>
              <a:rPr lang="uk-UA" sz="2000" dirty="0">
                <a:latin typeface="Times New Roman" panose="02020603050405020304" pitchFamily="18" charset="0"/>
                <a:cs typeface="Times New Roman" panose="02020603050405020304" pitchFamily="18" charset="0"/>
              </a:rPr>
              <a:t/>
            </a:r>
            <a:br>
              <a:rPr lang="uk-UA" sz="2000" dirty="0">
                <a:latin typeface="Times New Roman" panose="02020603050405020304" pitchFamily="18" charset="0"/>
                <a:cs typeface="Times New Roman" panose="02020603050405020304" pitchFamily="18" charset="0"/>
              </a:rPr>
            </a:br>
            <a:r>
              <a:rPr lang="uk-UA" sz="2000" dirty="0">
                <a:latin typeface="Times New Roman" panose="02020603050405020304" pitchFamily="18" charset="0"/>
                <a:cs typeface="Times New Roman" panose="02020603050405020304" pitchFamily="18" charset="0"/>
              </a:rPr>
              <a:t/>
            </a:r>
            <a:br>
              <a:rPr lang="uk-UA" sz="2000" dirty="0">
                <a:latin typeface="Times New Roman" panose="02020603050405020304" pitchFamily="18" charset="0"/>
                <a:cs typeface="Times New Roman" panose="02020603050405020304" pitchFamily="18" charset="0"/>
              </a:rPr>
            </a:br>
            <a:r>
              <a:rPr lang="uk-UA" sz="2000" dirty="0">
                <a:latin typeface="Times New Roman" panose="02020603050405020304" pitchFamily="18" charset="0"/>
                <a:cs typeface="Times New Roman" panose="02020603050405020304" pitchFamily="18" charset="0"/>
              </a:rPr>
              <a:t/>
            </a:r>
            <a:br>
              <a:rPr lang="uk-UA" sz="2000" dirty="0">
                <a:latin typeface="Times New Roman" panose="02020603050405020304" pitchFamily="18" charset="0"/>
                <a:cs typeface="Times New Roman" panose="02020603050405020304" pitchFamily="18" charset="0"/>
              </a:rPr>
            </a:br>
            <a:r>
              <a:rPr lang="uk-UA" sz="2000" dirty="0">
                <a:latin typeface="Times New Roman" panose="02020603050405020304" pitchFamily="18" charset="0"/>
                <a:cs typeface="Times New Roman" panose="02020603050405020304" pitchFamily="18" charset="0"/>
              </a:rPr>
              <a:t/>
            </a:r>
            <a:br>
              <a:rPr lang="uk-UA" sz="2000" dirty="0">
                <a:latin typeface="Times New Roman" panose="02020603050405020304" pitchFamily="18" charset="0"/>
                <a:cs typeface="Times New Roman" panose="02020603050405020304" pitchFamily="18" charset="0"/>
              </a:rPr>
            </a:br>
            <a:r>
              <a:rPr lang="uk-UA" sz="2000" dirty="0">
                <a:latin typeface="Times New Roman" panose="02020603050405020304" pitchFamily="18" charset="0"/>
                <a:cs typeface="Times New Roman" panose="02020603050405020304" pitchFamily="18" charset="0"/>
              </a:rPr>
              <a:t/>
            </a:r>
            <a:br>
              <a:rPr lang="uk-UA" sz="2000" dirty="0">
                <a:latin typeface="Times New Roman" panose="02020603050405020304" pitchFamily="18" charset="0"/>
                <a:cs typeface="Times New Roman" panose="02020603050405020304" pitchFamily="18" charset="0"/>
              </a:rPr>
            </a:br>
            <a:r>
              <a:rPr lang="uk-UA" sz="2000" dirty="0">
                <a:latin typeface="Times New Roman" panose="02020603050405020304" pitchFamily="18" charset="0"/>
                <a:cs typeface="Times New Roman" panose="02020603050405020304" pitchFamily="18" charset="0"/>
              </a:rPr>
              <a:t/>
            </a:r>
            <a:br>
              <a:rPr lang="uk-UA" sz="2000" dirty="0">
                <a:latin typeface="Times New Roman" panose="02020603050405020304" pitchFamily="18" charset="0"/>
                <a:cs typeface="Times New Roman" panose="02020603050405020304" pitchFamily="18" charset="0"/>
              </a:rPr>
            </a:br>
            <a:r>
              <a:rPr lang="uk-UA" sz="2000" dirty="0">
                <a:latin typeface="Times New Roman" panose="02020603050405020304" pitchFamily="18" charset="0"/>
                <a:cs typeface="Times New Roman" panose="02020603050405020304" pitchFamily="18" charset="0"/>
              </a:rPr>
              <a:t/>
            </a:r>
            <a:br>
              <a:rPr lang="uk-UA" sz="2000" dirty="0">
                <a:latin typeface="Times New Roman" panose="02020603050405020304" pitchFamily="18" charset="0"/>
                <a:cs typeface="Times New Roman" panose="02020603050405020304" pitchFamily="18" charset="0"/>
              </a:rPr>
            </a:br>
            <a:r>
              <a:rPr lang="uk-UA" sz="2000" dirty="0">
                <a:latin typeface="Times New Roman" panose="02020603050405020304" pitchFamily="18" charset="0"/>
                <a:cs typeface="Times New Roman" panose="02020603050405020304" pitchFamily="18" charset="0"/>
              </a:rPr>
              <a:t/>
            </a:r>
            <a:br>
              <a:rPr lang="uk-UA" sz="2000" dirty="0">
                <a:latin typeface="Times New Roman" panose="02020603050405020304" pitchFamily="18" charset="0"/>
                <a:cs typeface="Times New Roman" panose="02020603050405020304" pitchFamily="18" charset="0"/>
              </a:rPr>
            </a:br>
            <a:r>
              <a:rPr lang="uk-UA" sz="2000" dirty="0">
                <a:latin typeface="Times New Roman" panose="02020603050405020304" pitchFamily="18" charset="0"/>
                <a:cs typeface="Times New Roman" panose="02020603050405020304" pitchFamily="18" charset="0"/>
              </a:rPr>
              <a:t> </a:t>
            </a:r>
          </a:p>
        </p:txBody>
      </p:sp>
    </p:spTree>
    <p:extLst>
      <p:ext uri="{BB962C8B-B14F-4D97-AF65-F5344CB8AC3E}">
        <p14:creationId xmlns="" xmlns:p14="http://schemas.microsoft.com/office/powerpoint/2010/main" val="1483021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 xmlns:a16="http://schemas.microsoft.com/office/drawing/2014/main" id="{80E842DE-40E8-4638-8A8C-50BDCBB7D874}"/>
              </a:ext>
            </a:extLst>
          </p:cNvPr>
          <p:cNvSpPr>
            <a:spLocks noGrp="1"/>
          </p:cNvSpPr>
          <p:nvPr>
            <p:ph type="title"/>
          </p:nvPr>
        </p:nvSpPr>
        <p:spPr>
          <a:xfrm>
            <a:off x="2133600" y="624109"/>
            <a:ext cx="9371011" cy="5776691"/>
          </a:xfrm>
        </p:spPr>
        <p:txBody>
          <a:bodyPr>
            <a:normAutofit/>
          </a:bodyPr>
          <a:lstStyle/>
          <a:p>
            <a:r>
              <a:rPr lang="uk-UA" sz="2000" b="1" dirty="0">
                <a:effectLst/>
                <a:latin typeface="Times New Roman" panose="02020603050405020304" pitchFamily="18" charset="0"/>
                <a:ea typeface="Calibri" panose="020F0502020204030204" pitchFamily="34" charset="0"/>
                <a:cs typeface="Times New Roman" panose="02020603050405020304" pitchFamily="18" charset="0"/>
              </a:rPr>
              <a:t>Штатний персонал нараховує 15 осіб:</a:t>
            </a:r>
            <a:br>
              <a:rPr lang="uk-UA" sz="2000" b="1" dirty="0">
                <a:effectLst/>
                <a:latin typeface="Times New Roman" panose="02020603050405020304" pitchFamily="18" charset="0"/>
                <a:ea typeface="Calibri" panose="020F0502020204030204" pitchFamily="34" charset="0"/>
                <a:cs typeface="Times New Roman" panose="02020603050405020304" pitchFamily="18" charset="0"/>
              </a:rPr>
            </a:br>
            <a:r>
              <a:rPr lang="uk-UA" sz="20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1 – Директор, 4 – педагоги, 9 – техперсонал, 1 – медичний працівник.</a:t>
            </a:r>
            <a:br>
              <a:rPr lang="uk-UA" sz="20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br>
            <a:r>
              <a:rPr lang="uk-UA" sz="20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Загальна кількість дітей – 40 осіб</a:t>
            </a:r>
            <a:br>
              <a:rPr lang="uk-UA" sz="20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br>
            <a:r>
              <a:rPr lang="uk-UA" sz="20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Педагогічний патронаж – 5 осіб</a:t>
            </a:r>
            <a:br>
              <a:rPr lang="uk-UA" sz="20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br>
            <a:r>
              <a:rPr lang="uk-UA" sz="2000" dirty="0">
                <a:solidFill>
                  <a:schemeClr val="tx1"/>
                </a:solidFill>
                <a:effectLst/>
                <a:latin typeface="Times New Roman" panose="02020603050405020304" pitchFamily="18" charset="0"/>
                <a:ea typeface="Times New Roman" panose="02020603050405020304" pitchFamily="18" charset="0"/>
              </a:rPr>
              <a:t>За рішенням </a:t>
            </a:r>
            <a:r>
              <a:rPr lang="uk-UA" sz="2000" dirty="0" err="1">
                <a:solidFill>
                  <a:schemeClr val="tx1"/>
                </a:solidFill>
                <a:effectLst/>
                <a:latin typeface="Times New Roman" panose="02020603050405020304" pitchFamily="18" charset="0"/>
                <a:ea typeface="Times New Roman" panose="02020603050405020304" pitchFamily="18" charset="0"/>
              </a:rPr>
              <a:t>Сюртівської</a:t>
            </a:r>
            <a:r>
              <a:rPr lang="uk-UA" sz="2000" dirty="0">
                <a:solidFill>
                  <a:schemeClr val="tx1"/>
                </a:solidFill>
                <a:effectLst/>
                <a:latin typeface="Times New Roman" panose="02020603050405020304" pitchFamily="18" charset="0"/>
                <a:ea typeface="Times New Roman" panose="02020603050405020304" pitchFamily="18" charset="0"/>
              </a:rPr>
              <a:t> сільської ради </a:t>
            </a:r>
            <a:r>
              <a:rPr lang="en-US" sz="2000" dirty="0">
                <a:solidFill>
                  <a:schemeClr val="tx1"/>
                </a:solidFill>
                <a:effectLst/>
                <a:latin typeface="Times New Roman" panose="02020603050405020304" pitchFamily="18" charset="0"/>
                <a:ea typeface="Times New Roman" panose="02020603050405020304" pitchFamily="18" charset="0"/>
              </a:rPr>
              <a:t>13</a:t>
            </a:r>
            <a:r>
              <a:rPr lang="uk-UA" sz="2000" dirty="0">
                <a:solidFill>
                  <a:schemeClr val="tx1"/>
                </a:solidFill>
                <a:effectLst/>
                <a:latin typeface="Times New Roman" panose="02020603050405020304" pitchFamily="18" charset="0"/>
                <a:ea typeface="Times New Roman" panose="02020603050405020304" pitchFamily="18" charset="0"/>
              </a:rPr>
              <a:t> дітей пільгових категорій були частково або повністю звільнені від плати за харчування. </a:t>
            </a:r>
            <a:br>
              <a:rPr lang="uk-UA" sz="2000" dirty="0">
                <a:solidFill>
                  <a:schemeClr val="tx1"/>
                </a:solidFill>
                <a:effectLst/>
                <a:latin typeface="Times New Roman" panose="02020603050405020304" pitchFamily="18" charset="0"/>
                <a:ea typeface="Times New Roman" panose="02020603050405020304" pitchFamily="18" charset="0"/>
              </a:rPr>
            </a:br>
            <a:r>
              <a:rPr lang="uk-UA" sz="2000" dirty="0">
                <a:solidFill>
                  <a:schemeClr val="tx1"/>
                </a:solidFill>
                <a:effectLst/>
                <a:latin typeface="Times New Roman" panose="02020603050405020304" pitchFamily="18" charset="0"/>
                <a:ea typeface="Times New Roman" panose="02020603050405020304" pitchFamily="18" charset="0"/>
              </a:rPr>
              <a:t>Загалом безкоштовним харчуванням у закладі охоплено 6 дітей, серед яких:</a:t>
            </a:r>
            <a:br>
              <a:rPr lang="uk-UA" sz="2000" dirty="0">
                <a:solidFill>
                  <a:schemeClr val="tx1"/>
                </a:solidFill>
                <a:effectLst/>
                <a:latin typeface="Times New Roman" panose="02020603050405020304" pitchFamily="18" charset="0"/>
                <a:ea typeface="Times New Roman" panose="02020603050405020304" pitchFamily="18" charset="0"/>
              </a:rPr>
            </a:br>
            <a:r>
              <a:rPr lang="uk-UA" sz="2000" dirty="0">
                <a:solidFill>
                  <a:schemeClr val="tx1"/>
                </a:solidFill>
                <a:effectLst/>
                <a:latin typeface="Times New Roman" panose="02020603050405020304" pitchFamily="18" charset="0"/>
                <a:ea typeface="Times New Roman" panose="02020603050405020304" pitchFamily="18" charset="0"/>
              </a:rPr>
              <a:t>3 дітей учасників бойових дій;</a:t>
            </a:r>
            <a:br>
              <a:rPr lang="uk-UA" sz="2000" dirty="0">
                <a:solidFill>
                  <a:schemeClr val="tx1"/>
                </a:solidFill>
                <a:effectLst/>
                <a:latin typeface="Times New Roman" panose="02020603050405020304" pitchFamily="18" charset="0"/>
                <a:ea typeface="Times New Roman" panose="02020603050405020304" pitchFamily="18" charset="0"/>
              </a:rPr>
            </a:br>
            <a:r>
              <a:rPr lang="uk-UA" sz="2000" dirty="0">
                <a:solidFill>
                  <a:schemeClr val="tx1"/>
                </a:solidFill>
                <a:effectLst/>
                <a:latin typeface="Times New Roman" panose="02020603050405020304" pitchFamily="18" charset="0"/>
                <a:ea typeface="Times New Roman" panose="02020603050405020304" pitchFamily="18" charset="0"/>
              </a:rPr>
              <a:t>1 дитина </a:t>
            </a:r>
            <a:r>
              <a:rPr lang="uk-UA" sz="2000" dirty="0" smtClean="0">
                <a:solidFill>
                  <a:schemeClr val="tx1"/>
                </a:solidFill>
                <a:effectLst/>
                <a:latin typeface="Times New Roman" panose="02020603050405020304" pitchFamily="18" charset="0"/>
                <a:ea typeface="Times New Roman" panose="02020603050405020304" pitchFamily="18" charset="0"/>
              </a:rPr>
              <a:t>загиблого військовослужбовця;</a:t>
            </a:r>
            <a:r>
              <a:rPr lang="uk-UA" sz="2000" dirty="0">
                <a:solidFill>
                  <a:schemeClr val="tx1"/>
                </a:solidFill>
                <a:effectLst/>
                <a:latin typeface="Times New Roman" panose="02020603050405020304" pitchFamily="18" charset="0"/>
                <a:ea typeface="Times New Roman" panose="02020603050405020304" pitchFamily="18" charset="0"/>
              </a:rPr>
              <a:t/>
            </a:r>
            <a:br>
              <a:rPr lang="uk-UA" sz="2000" dirty="0">
                <a:solidFill>
                  <a:schemeClr val="tx1"/>
                </a:solidFill>
                <a:effectLst/>
                <a:latin typeface="Times New Roman" panose="02020603050405020304" pitchFamily="18" charset="0"/>
                <a:ea typeface="Times New Roman" panose="02020603050405020304" pitchFamily="18" charset="0"/>
              </a:rPr>
            </a:br>
            <a:r>
              <a:rPr lang="uk-UA" sz="2000" dirty="0">
                <a:solidFill>
                  <a:schemeClr val="tx1"/>
                </a:solidFill>
                <a:effectLst/>
                <a:latin typeface="Times New Roman" panose="02020603050405020304" pitchFamily="18" charset="0"/>
                <a:ea typeface="Times New Roman" panose="02020603050405020304" pitchFamily="18" charset="0"/>
              </a:rPr>
              <a:t>2 дітей із числа внутрішньо переміщених осіб;</a:t>
            </a:r>
            <a:br>
              <a:rPr lang="uk-UA" sz="2000" dirty="0">
                <a:solidFill>
                  <a:schemeClr val="tx1"/>
                </a:solidFill>
                <a:effectLst/>
                <a:latin typeface="Times New Roman" panose="02020603050405020304" pitchFamily="18" charset="0"/>
                <a:ea typeface="Times New Roman" panose="02020603050405020304" pitchFamily="18" charset="0"/>
              </a:rPr>
            </a:br>
            <a:r>
              <a:rPr lang="ru-RU" sz="2000" dirty="0">
                <a:solidFill>
                  <a:schemeClr val="tx1"/>
                </a:solidFill>
                <a:latin typeface="Times New Roman" panose="02020603050405020304" pitchFamily="18" charset="0"/>
                <a:cs typeface="Times New Roman" panose="02020603050405020304" pitchFamily="18" charset="0"/>
              </a:rPr>
              <a:t>Для 5 </a:t>
            </a:r>
            <a:r>
              <a:rPr lang="ru-RU" sz="2000" dirty="0" err="1">
                <a:solidFill>
                  <a:schemeClr val="tx1"/>
                </a:solidFill>
                <a:latin typeface="Times New Roman" panose="02020603050405020304" pitchFamily="18" charset="0"/>
                <a:cs typeface="Times New Roman" panose="02020603050405020304" pitchFamily="18" charset="0"/>
              </a:rPr>
              <a:t>вихованців</a:t>
            </a:r>
            <a:r>
              <a:rPr lang="ru-RU" sz="2000" dirty="0">
                <a:solidFill>
                  <a:schemeClr val="tx1"/>
                </a:solidFill>
                <a:latin typeface="Times New Roman" panose="02020603050405020304" pitchFamily="18" charset="0"/>
                <a:cs typeface="Times New Roman" panose="02020603050405020304" pitchFamily="18" charset="0"/>
              </a:rPr>
              <a:t> </a:t>
            </a:r>
            <a:r>
              <a:rPr lang="ru-RU" sz="2000" dirty="0" err="1">
                <a:solidFill>
                  <a:schemeClr val="tx1"/>
                </a:solidFill>
                <a:latin typeface="Times New Roman" panose="02020603050405020304" pitchFamily="18" charset="0"/>
                <a:cs typeface="Times New Roman" panose="02020603050405020304" pitchFamily="18" charset="0"/>
              </a:rPr>
              <a:t>було</a:t>
            </a:r>
            <a:r>
              <a:rPr lang="ru-RU" sz="2000" dirty="0">
                <a:solidFill>
                  <a:schemeClr val="tx1"/>
                </a:solidFill>
                <a:latin typeface="Times New Roman" panose="02020603050405020304" pitchFamily="18" charset="0"/>
                <a:cs typeface="Times New Roman" panose="02020603050405020304" pitchFamily="18" charset="0"/>
              </a:rPr>
              <a:t> </a:t>
            </a:r>
            <a:r>
              <a:rPr lang="ru-RU" sz="2000" dirty="0" err="1">
                <a:solidFill>
                  <a:schemeClr val="tx1"/>
                </a:solidFill>
                <a:latin typeface="Times New Roman" panose="02020603050405020304" pitchFamily="18" charset="0"/>
                <a:cs typeface="Times New Roman" panose="02020603050405020304" pitchFamily="18" charset="0"/>
              </a:rPr>
              <a:t>організовано</a:t>
            </a:r>
            <a:r>
              <a:rPr lang="ru-RU" sz="2000" dirty="0">
                <a:solidFill>
                  <a:schemeClr val="tx1"/>
                </a:solidFill>
                <a:latin typeface="Times New Roman" panose="02020603050405020304" pitchFamily="18" charset="0"/>
                <a:cs typeface="Times New Roman" panose="02020603050405020304" pitchFamily="18" charset="0"/>
              </a:rPr>
              <a:t> </a:t>
            </a:r>
            <a:r>
              <a:rPr lang="ru-RU" sz="2000" dirty="0" err="1">
                <a:solidFill>
                  <a:schemeClr val="tx1"/>
                </a:solidFill>
                <a:latin typeface="Times New Roman" panose="02020603050405020304" pitchFamily="18" charset="0"/>
                <a:cs typeface="Times New Roman" panose="02020603050405020304" pitchFamily="18" charset="0"/>
              </a:rPr>
              <a:t>педагогічний</a:t>
            </a:r>
            <a:r>
              <a:rPr lang="ru-RU" sz="2000" dirty="0">
                <a:solidFill>
                  <a:schemeClr val="tx1"/>
                </a:solidFill>
                <a:latin typeface="Times New Roman" panose="02020603050405020304" pitchFamily="18" charset="0"/>
                <a:cs typeface="Times New Roman" panose="02020603050405020304" pitchFamily="18" charset="0"/>
              </a:rPr>
              <a:t> патронаж</a:t>
            </a:r>
            <a:r>
              <a:rPr lang="uk-UA" sz="2000" dirty="0">
                <a:solidFill>
                  <a:schemeClr val="tx1"/>
                </a:solidFill>
                <a:latin typeface="Times New Roman" panose="02020603050405020304" pitchFamily="18" charset="0"/>
                <a:cs typeface="Times New Roman" panose="02020603050405020304" pitchFamily="18" charset="0"/>
              </a:rPr>
              <a:t>- </a:t>
            </a:r>
            <a:r>
              <a:rPr lang="ru-RU" sz="2000" dirty="0" err="1">
                <a:solidFill>
                  <a:schemeClr val="tx1"/>
                </a:solidFill>
                <a:latin typeface="Times New Roman" panose="02020603050405020304" pitchFamily="18" charset="0"/>
                <a:cs typeface="Times New Roman" panose="02020603050405020304" pitchFamily="18" charset="0"/>
              </a:rPr>
              <a:t>Відповідно</a:t>
            </a:r>
            <a:r>
              <a:rPr lang="ru-RU" sz="2000" dirty="0">
                <a:solidFill>
                  <a:schemeClr val="tx1"/>
                </a:solidFill>
                <a:latin typeface="Times New Roman" panose="02020603050405020304" pitchFamily="18" charset="0"/>
                <a:cs typeface="Times New Roman" panose="02020603050405020304" pitchFamily="18" charset="0"/>
              </a:rPr>
              <a:t> до Закону </a:t>
            </a:r>
            <a:r>
              <a:rPr lang="ru-RU" sz="2000" dirty="0" err="1">
                <a:solidFill>
                  <a:schemeClr val="tx1"/>
                </a:solidFill>
                <a:latin typeface="Times New Roman" panose="02020603050405020304" pitchFamily="18" charset="0"/>
                <a:cs typeface="Times New Roman" panose="02020603050405020304" pitchFamily="18" charset="0"/>
              </a:rPr>
              <a:t>України</a:t>
            </a:r>
            <a:r>
              <a:rPr lang="ru-RU" sz="2000" dirty="0">
                <a:solidFill>
                  <a:schemeClr val="tx1"/>
                </a:solidFill>
                <a:latin typeface="Times New Roman" panose="02020603050405020304" pitchFamily="18" charset="0"/>
                <a:cs typeface="Times New Roman" panose="02020603050405020304" pitchFamily="18" charset="0"/>
              </a:rPr>
              <a:t> «Про </a:t>
            </a:r>
            <a:r>
              <a:rPr lang="ru-RU" sz="2000" dirty="0" err="1">
                <a:solidFill>
                  <a:schemeClr val="tx1"/>
                </a:solidFill>
                <a:latin typeface="Times New Roman" panose="02020603050405020304" pitchFamily="18" charset="0"/>
                <a:cs typeface="Times New Roman" panose="02020603050405020304" pitchFamily="18" charset="0"/>
              </a:rPr>
              <a:t>дошкільну</a:t>
            </a:r>
            <a:r>
              <a:rPr lang="ru-RU" sz="2000" dirty="0">
                <a:solidFill>
                  <a:schemeClr val="tx1"/>
                </a:solidFill>
                <a:latin typeface="Times New Roman" panose="02020603050405020304" pitchFamily="18" charset="0"/>
                <a:cs typeface="Times New Roman" panose="02020603050405020304" pitchFamily="18" charset="0"/>
              </a:rPr>
              <a:t> </a:t>
            </a:r>
            <a:r>
              <a:rPr lang="ru-RU" sz="2000" dirty="0" err="1">
                <a:solidFill>
                  <a:schemeClr val="tx1"/>
                </a:solidFill>
                <a:latin typeface="Times New Roman" panose="02020603050405020304" pitchFamily="18" charset="0"/>
                <a:cs typeface="Times New Roman" panose="02020603050405020304" pitchFamily="18" charset="0"/>
              </a:rPr>
              <a:t>освіту</a:t>
            </a:r>
            <a:r>
              <a:rPr lang="ru-RU" sz="2000" dirty="0">
                <a:solidFill>
                  <a:schemeClr val="tx1"/>
                </a:solidFill>
                <a:latin typeface="Times New Roman" panose="02020603050405020304" pitchFamily="18" charset="0"/>
                <a:cs typeface="Times New Roman" panose="02020603050405020304" pitchFamily="18" charset="0"/>
              </a:rPr>
              <a:t>», </a:t>
            </a:r>
            <a:r>
              <a:rPr lang="ru-RU" sz="2000" dirty="0" err="1">
                <a:solidFill>
                  <a:schemeClr val="tx1"/>
                </a:solidFill>
                <a:latin typeface="Times New Roman" panose="02020603050405020304" pitchFamily="18" charset="0"/>
                <a:cs typeface="Times New Roman" panose="02020603050405020304" pitchFamily="18" charset="0"/>
              </a:rPr>
              <a:t>Положення</a:t>
            </a:r>
            <a:r>
              <a:rPr lang="ru-RU" sz="2000" dirty="0">
                <a:solidFill>
                  <a:schemeClr val="tx1"/>
                </a:solidFill>
                <a:latin typeface="Times New Roman" panose="02020603050405020304" pitchFamily="18" charset="0"/>
                <a:cs typeface="Times New Roman" panose="02020603050405020304" pitchFamily="18" charset="0"/>
              </a:rPr>
              <a:t> про форму </a:t>
            </a:r>
            <a:r>
              <a:rPr lang="ru-RU" sz="2000" dirty="0" err="1">
                <a:solidFill>
                  <a:schemeClr val="tx1"/>
                </a:solidFill>
                <a:latin typeface="Times New Roman" panose="02020603050405020304" pitchFamily="18" charset="0"/>
                <a:cs typeface="Times New Roman" panose="02020603050405020304" pitchFamily="18" charset="0"/>
              </a:rPr>
              <a:t>здобуття</a:t>
            </a:r>
            <a:r>
              <a:rPr lang="ru-RU" sz="2000" dirty="0">
                <a:solidFill>
                  <a:schemeClr val="tx1"/>
                </a:solidFill>
                <a:latin typeface="Times New Roman" panose="02020603050405020304" pitchFamily="18" charset="0"/>
                <a:cs typeface="Times New Roman" panose="02020603050405020304" pitchFamily="18" charset="0"/>
              </a:rPr>
              <a:t> </a:t>
            </a:r>
            <a:r>
              <a:rPr lang="ru-RU" sz="2000" dirty="0" err="1">
                <a:solidFill>
                  <a:schemeClr val="tx1"/>
                </a:solidFill>
                <a:latin typeface="Times New Roman" panose="02020603050405020304" pitchFamily="18" charset="0"/>
                <a:cs typeface="Times New Roman" panose="02020603050405020304" pitchFamily="18" charset="0"/>
              </a:rPr>
              <a:t>дошкільної</a:t>
            </a:r>
            <a:r>
              <a:rPr lang="ru-RU" sz="2000" dirty="0">
                <a:solidFill>
                  <a:schemeClr val="tx1"/>
                </a:solidFill>
                <a:latin typeface="Times New Roman" panose="02020603050405020304" pitchFamily="18" charset="0"/>
                <a:cs typeface="Times New Roman" panose="02020603050405020304" pitchFamily="18" charset="0"/>
              </a:rPr>
              <a:t> </a:t>
            </a:r>
            <a:r>
              <a:rPr lang="ru-RU" sz="2000" dirty="0" err="1">
                <a:solidFill>
                  <a:schemeClr val="tx1"/>
                </a:solidFill>
                <a:latin typeface="Times New Roman" panose="02020603050405020304" pitchFamily="18" charset="0"/>
                <a:cs typeface="Times New Roman" panose="02020603050405020304" pitchFamily="18" charset="0"/>
              </a:rPr>
              <a:t>освіти</a:t>
            </a:r>
            <a:r>
              <a:rPr lang="ru-RU" sz="2000" dirty="0">
                <a:solidFill>
                  <a:schemeClr val="tx1"/>
                </a:solidFill>
                <a:latin typeface="Times New Roman" panose="02020603050405020304" pitchFamily="18" charset="0"/>
                <a:cs typeface="Times New Roman" panose="02020603050405020304" pitchFamily="18" charset="0"/>
              </a:rPr>
              <a:t> – </a:t>
            </a:r>
            <a:r>
              <a:rPr lang="ru-RU" sz="2000" dirty="0" err="1">
                <a:solidFill>
                  <a:schemeClr val="tx1"/>
                </a:solidFill>
                <a:latin typeface="Times New Roman" panose="02020603050405020304" pitchFamily="18" charset="0"/>
                <a:cs typeface="Times New Roman" panose="02020603050405020304" pitchFamily="18" charset="0"/>
              </a:rPr>
              <a:t>педагогічний</a:t>
            </a:r>
            <a:r>
              <a:rPr lang="ru-RU" sz="2000" dirty="0">
                <a:solidFill>
                  <a:schemeClr val="tx1"/>
                </a:solidFill>
                <a:latin typeface="Times New Roman" panose="02020603050405020304" pitchFamily="18" charset="0"/>
                <a:cs typeface="Times New Roman" panose="02020603050405020304" pitchFamily="18" charset="0"/>
              </a:rPr>
              <a:t> патронаж; </a:t>
            </a:r>
            <a:r>
              <a:rPr lang="uk-UA" sz="20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r>
            <a:br>
              <a:rPr lang="uk-UA" sz="20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br>
            <a:endParaRPr lang="uk-UA" sz="20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 xmlns:p14="http://schemas.microsoft.com/office/powerpoint/2010/main" val="27722693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uk-UA" dirty="0" smtClean="0"/>
              <a:t>Цікаві заходи в житті садочка</a:t>
            </a:r>
            <a:br>
              <a:rPr lang="uk-UA" dirty="0" smtClean="0"/>
            </a:br>
            <a:r>
              <a:rPr lang="uk-UA" dirty="0" smtClean="0"/>
              <a:t>Тиждень безпеки дорожнього руху</a:t>
            </a:r>
            <a:br>
              <a:rPr lang="uk-UA" dirty="0" smtClean="0"/>
            </a:br>
            <a:endParaRPr lang="uk-UA" dirty="0"/>
          </a:p>
        </p:txBody>
      </p:sp>
      <p:pic>
        <p:nvPicPr>
          <p:cNvPr id="3" name="Рисунок 2" descr="702256110_3454151214749151_9144474491923210334_n.jpg"/>
          <p:cNvPicPr>
            <a:picLocks noChangeAspect="1"/>
          </p:cNvPicPr>
          <p:nvPr/>
        </p:nvPicPr>
        <p:blipFill>
          <a:blip r:embed="rId2" cstate="print"/>
          <a:stretch>
            <a:fillRect/>
          </a:stretch>
        </p:blipFill>
        <p:spPr>
          <a:xfrm>
            <a:off x="966158" y="1690776"/>
            <a:ext cx="3528203" cy="3709359"/>
          </a:xfrm>
          <a:prstGeom prst="rect">
            <a:avLst/>
          </a:prstGeom>
          <a:ln>
            <a:noFill/>
          </a:ln>
          <a:effectLst>
            <a:softEdge rad="112500"/>
          </a:effectLst>
        </p:spPr>
      </p:pic>
      <p:pic>
        <p:nvPicPr>
          <p:cNvPr id="4" name="Рисунок 3" descr="699355337_3449791298518476_2996387784173815755_n.jpg"/>
          <p:cNvPicPr>
            <a:picLocks noChangeAspect="1"/>
          </p:cNvPicPr>
          <p:nvPr/>
        </p:nvPicPr>
        <p:blipFill>
          <a:blip r:embed="rId3" cstate="print"/>
          <a:stretch>
            <a:fillRect/>
          </a:stretch>
        </p:blipFill>
        <p:spPr>
          <a:xfrm>
            <a:off x="4597880" y="1742536"/>
            <a:ext cx="3657600" cy="3631721"/>
          </a:xfrm>
          <a:prstGeom prst="rect">
            <a:avLst/>
          </a:prstGeom>
          <a:ln>
            <a:noFill/>
          </a:ln>
          <a:effectLst>
            <a:softEdge rad="112500"/>
          </a:effectLst>
        </p:spPr>
      </p:pic>
      <p:pic>
        <p:nvPicPr>
          <p:cNvPr id="6" name="Рисунок 5" descr="580069924_3262121977285410_1462761446728751684_n.jpg"/>
          <p:cNvPicPr>
            <a:picLocks noChangeAspect="1"/>
          </p:cNvPicPr>
          <p:nvPr/>
        </p:nvPicPr>
        <p:blipFill>
          <a:blip r:embed="rId4" cstate="print"/>
          <a:stretch>
            <a:fillRect/>
          </a:stretch>
        </p:blipFill>
        <p:spPr>
          <a:xfrm>
            <a:off x="8272732" y="1751162"/>
            <a:ext cx="3743864" cy="3502325"/>
          </a:xfrm>
          <a:prstGeom prst="rect">
            <a:avLst/>
          </a:prstGeom>
          <a:ln>
            <a:noFill/>
          </a:ln>
          <a:effectLst>
            <a:softEdge rad="112500"/>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uk-UA" dirty="0" smtClean="0"/>
              <a:t>Тиждень безпеки дорожнього руху</a:t>
            </a:r>
            <a:br>
              <a:rPr lang="uk-UA" dirty="0" smtClean="0"/>
            </a:br>
            <a:r>
              <a:rPr lang="uk-UA" dirty="0" smtClean="0"/>
              <a:t> </a:t>
            </a:r>
            <a:r>
              <a:rPr lang="uk-UA" dirty="0" smtClean="0"/>
              <a:t>“ Зустріч </a:t>
            </a:r>
            <a:r>
              <a:rPr lang="uk-UA" dirty="0" smtClean="0"/>
              <a:t>із </a:t>
            </a:r>
            <a:r>
              <a:rPr lang="uk-UA" dirty="0" smtClean="0"/>
              <a:t>поліцейською ”</a:t>
            </a:r>
            <a:endParaRPr lang="uk-UA" dirty="0"/>
          </a:p>
        </p:txBody>
      </p:sp>
      <p:pic>
        <p:nvPicPr>
          <p:cNvPr id="3" name="Рисунок 2" descr="583140818_3263151880515753_3043131226923572943_n.jpg"/>
          <p:cNvPicPr>
            <a:picLocks noChangeAspect="1"/>
          </p:cNvPicPr>
          <p:nvPr/>
        </p:nvPicPr>
        <p:blipFill>
          <a:blip r:embed="rId2"/>
          <a:stretch>
            <a:fillRect/>
          </a:stretch>
        </p:blipFill>
        <p:spPr>
          <a:xfrm>
            <a:off x="1035170" y="2199735"/>
            <a:ext cx="5520906" cy="4045788"/>
          </a:xfrm>
          <a:prstGeom prst="rect">
            <a:avLst/>
          </a:prstGeom>
          <a:ln>
            <a:noFill/>
          </a:ln>
          <a:effectLst>
            <a:softEdge rad="112500"/>
          </a:effectLst>
        </p:spPr>
      </p:pic>
      <p:pic>
        <p:nvPicPr>
          <p:cNvPr id="4" name="Рисунок 3" descr="582045140_3263151887182419_3387748198512225421_n.jpg"/>
          <p:cNvPicPr>
            <a:picLocks noChangeAspect="1"/>
          </p:cNvPicPr>
          <p:nvPr/>
        </p:nvPicPr>
        <p:blipFill>
          <a:blip r:embed="rId3"/>
          <a:stretch>
            <a:fillRect/>
          </a:stretch>
        </p:blipFill>
        <p:spPr>
          <a:xfrm>
            <a:off x="6556076" y="2182484"/>
            <a:ext cx="5515155" cy="4045788"/>
          </a:xfrm>
          <a:prstGeom prst="rect">
            <a:avLst/>
          </a:prstGeom>
          <a:ln>
            <a:noFill/>
          </a:ln>
          <a:effectLst>
            <a:softEdge rad="112500"/>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uk-UA" dirty="0" smtClean="0"/>
              <a:t>Свято “ Золота осінь ”</a:t>
            </a:r>
            <a:endParaRPr lang="uk-UA" dirty="0"/>
          </a:p>
        </p:txBody>
      </p:sp>
      <p:pic>
        <p:nvPicPr>
          <p:cNvPr id="3" name="Рисунок 2" descr="569119208_2172586206561526_6780443075143792327_n.jpg"/>
          <p:cNvPicPr>
            <a:picLocks noChangeAspect="1"/>
          </p:cNvPicPr>
          <p:nvPr/>
        </p:nvPicPr>
        <p:blipFill>
          <a:blip r:embed="rId2"/>
          <a:stretch>
            <a:fillRect/>
          </a:stretch>
        </p:blipFill>
        <p:spPr>
          <a:xfrm>
            <a:off x="923025" y="2113471"/>
            <a:ext cx="5667555" cy="4132053"/>
          </a:xfrm>
          <a:prstGeom prst="rect">
            <a:avLst/>
          </a:prstGeom>
          <a:ln>
            <a:noFill/>
          </a:ln>
          <a:effectLst>
            <a:softEdge rad="112500"/>
          </a:effectLst>
        </p:spPr>
      </p:pic>
      <p:pic>
        <p:nvPicPr>
          <p:cNvPr id="5" name="Рисунок 4" descr="569531115_3240111622819779_7468285046960423256_n.jpg"/>
          <p:cNvPicPr>
            <a:picLocks noChangeAspect="1"/>
          </p:cNvPicPr>
          <p:nvPr/>
        </p:nvPicPr>
        <p:blipFill>
          <a:blip r:embed="rId3"/>
          <a:stretch>
            <a:fillRect/>
          </a:stretch>
        </p:blipFill>
        <p:spPr>
          <a:xfrm>
            <a:off x="6702724" y="2130725"/>
            <a:ext cx="5329315" cy="4106173"/>
          </a:xfrm>
          <a:prstGeom prst="rect">
            <a:avLst/>
          </a:prstGeom>
          <a:ln>
            <a:noFill/>
          </a:ln>
          <a:effectLst>
            <a:softEdge rad="112500"/>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uk-UA" dirty="0" smtClean="0"/>
              <a:t>День української писемності та мови</a:t>
            </a:r>
            <a:br>
              <a:rPr lang="uk-UA" dirty="0" smtClean="0"/>
            </a:br>
            <a:r>
              <a:rPr lang="uk-UA" dirty="0" smtClean="0"/>
              <a:t>День Державного Гімну України</a:t>
            </a:r>
            <a:endParaRPr lang="uk-UA" dirty="0"/>
          </a:p>
        </p:txBody>
      </p:sp>
      <p:pic>
        <p:nvPicPr>
          <p:cNvPr id="3" name="Рисунок 2" descr="571285471_3244907929006815_4549963553736916387_n.jpg"/>
          <p:cNvPicPr>
            <a:picLocks noChangeAspect="1"/>
          </p:cNvPicPr>
          <p:nvPr/>
        </p:nvPicPr>
        <p:blipFill>
          <a:blip r:embed="rId2"/>
          <a:stretch>
            <a:fillRect/>
          </a:stretch>
        </p:blipFill>
        <p:spPr>
          <a:xfrm>
            <a:off x="1181819" y="2363638"/>
            <a:ext cx="5451894" cy="4157932"/>
          </a:xfrm>
          <a:prstGeom prst="rect">
            <a:avLst/>
          </a:prstGeom>
          <a:ln>
            <a:noFill/>
          </a:ln>
          <a:effectLst>
            <a:softEdge rad="112500"/>
          </a:effectLst>
        </p:spPr>
      </p:pic>
      <p:pic>
        <p:nvPicPr>
          <p:cNvPr id="4" name="Рисунок 3" descr="649563143_3382033521960921_2849826113007267835_n.jpg"/>
          <p:cNvPicPr>
            <a:picLocks noChangeAspect="1"/>
          </p:cNvPicPr>
          <p:nvPr/>
        </p:nvPicPr>
        <p:blipFill>
          <a:blip r:embed="rId3"/>
          <a:stretch>
            <a:fillRect/>
          </a:stretch>
        </p:blipFill>
        <p:spPr>
          <a:xfrm>
            <a:off x="6694097" y="2355011"/>
            <a:ext cx="5331125" cy="4140680"/>
          </a:xfrm>
          <a:prstGeom prst="rect">
            <a:avLst/>
          </a:prstGeom>
          <a:ln>
            <a:noFill/>
          </a:ln>
          <a:effectLst>
            <a:softEdge rad="112500"/>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uk-UA" dirty="0" smtClean="0"/>
              <a:t>Свято Святого Миколая</a:t>
            </a:r>
            <a:endParaRPr lang="uk-UA" dirty="0"/>
          </a:p>
        </p:txBody>
      </p:sp>
      <p:pic>
        <p:nvPicPr>
          <p:cNvPr id="3" name="Рисунок 2" descr="593544884_3284569305040677_8024530217249518043_n.jpg"/>
          <p:cNvPicPr>
            <a:picLocks noChangeAspect="1"/>
          </p:cNvPicPr>
          <p:nvPr/>
        </p:nvPicPr>
        <p:blipFill>
          <a:blip r:embed="rId2"/>
          <a:stretch>
            <a:fillRect/>
          </a:stretch>
        </p:blipFill>
        <p:spPr>
          <a:xfrm>
            <a:off x="1371600" y="2631057"/>
            <a:ext cx="5253488" cy="3735239"/>
          </a:xfrm>
          <a:prstGeom prst="rect">
            <a:avLst/>
          </a:prstGeom>
          <a:ln>
            <a:noFill/>
          </a:ln>
          <a:effectLst>
            <a:softEdge rad="112500"/>
          </a:effectLst>
        </p:spPr>
      </p:pic>
      <p:pic>
        <p:nvPicPr>
          <p:cNvPr id="6" name="Рисунок 5" descr="593468558_3284568931707381_4136019564198029364_n.jpg"/>
          <p:cNvPicPr>
            <a:picLocks noChangeAspect="1"/>
          </p:cNvPicPr>
          <p:nvPr/>
        </p:nvPicPr>
        <p:blipFill>
          <a:blip r:embed="rId3"/>
          <a:stretch>
            <a:fillRect/>
          </a:stretch>
        </p:blipFill>
        <p:spPr>
          <a:xfrm>
            <a:off x="6754484" y="2631057"/>
            <a:ext cx="5175848" cy="3778369"/>
          </a:xfrm>
          <a:prstGeom prst="rect">
            <a:avLst/>
          </a:prstGeom>
          <a:ln>
            <a:noFill/>
          </a:ln>
          <a:effectLst>
            <a:softEdge rad="112500"/>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uk-UA" dirty="0" smtClean="0"/>
              <a:t>Різдвяний концерт</a:t>
            </a:r>
            <a:br>
              <a:rPr lang="uk-UA" dirty="0" smtClean="0"/>
            </a:br>
            <a:r>
              <a:rPr lang="uk-UA" dirty="0" smtClean="0"/>
              <a:t>“ Світло різдвяної зірки “</a:t>
            </a:r>
            <a:endParaRPr lang="uk-UA" dirty="0"/>
          </a:p>
        </p:txBody>
      </p:sp>
      <p:pic>
        <p:nvPicPr>
          <p:cNvPr id="3" name="Рисунок 2" descr="602386532_3303960123101595_6069908735695966474_n.jpg"/>
          <p:cNvPicPr>
            <a:picLocks noChangeAspect="1"/>
          </p:cNvPicPr>
          <p:nvPr/>
        </p:nvPicPr>
        <p:blipFill>
          <a:blip r:embed="rId2"/>
          <a:stretch>
            <a:fillRect/>
          </a:stretch>
        </p:blipFill>
        <p:spPr>
          <a:xfrm>
            <a:off x="1155941" y="2337757"/>
            <a:ext cx="5382882" cy="3786997"/>
          </a:xfrm>
          <a:prstGeom prst="rect">
            <a:avLst/>
          </a:prstGeom>
          <a:ln>
            <a:noFill/>
          </a:ln>
          <a:effectLst>
            <a:softEdge rad="112500"/>
          </a:effectLst>
        </p:spPr>
      </p:pic>
      <p:pic>
        <p:nvPicPr>
          <p:cNvPr id="4" name="Рисунок 3" descr="606433980_1823691244927613_1586267355881930356_n.jpg"/>
          <p:cNvPicPr>
            <a:picLocks noChangeAspect="1"/>
          </p:cNvPicPr>
          <p:nvPr/>
        </p:nvPicPr>
        <p:blipFill>
          <a:blip r:embed="rId3"/>
          <a:stretch>
            <a:fillRect/>
          </a:stretch>
        </p:blipFill>
        <p:spPr>
          <a:xfrm>
            <a:off x="6763110" y="2320505"/>
            <a:ext cx="5167222" cy="3804249"/>
          </a:xfrm>
          <a:prstGeom prst="rect">
            <a:avLst/>
          </a:prstGeom>
          <a:ln>
            <a:noFill/>
          </a:ln>
          <a:effectLst>
            <a:softEdge rad="112500"/>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uk-UA" dirty="0" smtClean="0"/>
              <a:t>Карнавал “ </a:t>
            </a:r>
            <a:r>
              <a:rPr lang="uk-UA" dirty="0" err="1" smtClean="0"/>
              <a:t>Фаршанг</a:t>
            </a:r>
            <a:r>
              <a:rPr lang="uk-UA" dirty="0" smtClean="0"/>
              <a:t> ”</a:t>
            </a:r>
            <a:endParaRPr lang="uk-UA" dirty="0"/>
          </a:p>
        </p:txBody>
      </p:sp>
      <p:pic>
        <p:nvPicPr>
          <p:cNvPr id="3" name="Рисунок 2" descr="634372035_2265556813931131_4939193984166587367_n.jpg"/>
          <p:cNvPicPr>
            <a:picLocks noChangeAspect="1"/>
          </p:cNvPicPr>
          <p:nvPr/>
        </p:nvPicPr>
        <p:blipFill>
          <a:blip r:embed="rId2"/>
          <a:stretch>
            <a:fillRect/>
          </a:stretch>
        </p:blipFill>
        <p:spPr>
          <a:xfrm>
            <a:off x="1526877" y="2432650"/>
            <a:ext cx="5348376" cy="3838754"/>
          </a:xfrm>
          <a:prstGeom prst="rect">
            <a:avLst/>
          </a:prstGeom>
          <a:ln>
            <a:noFill/>
          </a:ln>
          <a:effectLst>
            <a:softEdge rad="112500"/>
          </a:effectLst>
        </p:spPr>
      </p:pic>
      <p:pic>
        <p:nvPicPr>
          <p:cNvPr id="4" name="Рисунок 3" descr="634065537_3354587658038841_4183603509879235290_n.jpg"/>
          <p:cNvPicPr>
            <a:picLocks noChangeAspect="1"/>
          </p:cNvPicPr>
          <p:nvPr/>
        </p:nvPicPr>
        <p:blipFill>
          <a:blip r:embed="rId3"/>
          <a:stretch>
            <a:fillRect/>
          </a:stretch>
        </p:blipFill>
        <p:spPr>
          <a:xfrm>
            <a:off x="7021902" y="2475780"/>
            <a:ext cx="4942936" cy="3821503"/>
          </a:xfrm>
          <a:prstGeom prst="rect">
            <a:avLst/>
          </a:prstGeom>
          <a:ln>
            <a:noFill/>
          </a:ln>
          <a:effectLst>
            <a:softEdge rad="112500"/>
          </a:effec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uk-UA" dirty="0" smtClean="0"/>
              <a:t>День єднання</a:t>
            </a:r>
            <a:r>
              <a:rPr lang="en-US" dirty="0" smtClean="0"/>
              <a:t>:</a:t>
            </a:r>
            <a:r>
              <a:rPr lang="uk-UA" dirty="0" smtClean="0"/>
              <a:t>в єдності наша сила!</a:t>
            </a:r>
            <a:br>
              <a:rPr lang="uk-UA" dirty="0" smtClean="0"/>
            </a:br>
            <a:r>
              <a:rPr lang="uk-UA" dirty="0" smtClean="0"/>
              <a:t>Зустріч із військовослужбовцем</a:t>
            </a:r>
            <a:endParaRPr lang="uk-UA" dirty="0"/>
          </a:p>
        </p:txBody>
      </p:sp>
      <p:pic>
        <p:nvPicPr>
          <p:cNvPr id="3" name="Рисунок 2" descr="634277290_3358956504268623_8166325108927802072_n.jpg"/>
          <p:cNvPicPr>
            <a:picLocks noChangeAspect="1"/>
          </p:cNvPicPr>
          <p:nvPr/>
        </p:nvPicPr>
        <p:blipFill>
          <a:blip r:embed="rId2"/>
          <a:stretch>
            <a:fillRect/>
          </a:stretch>
        </p:blipFill>
        <p:spPr>
          <a:xfrm>
            <a:off x="1518249" y="2372264"/>
            <a:ext cx="5313872" cy="4071667"/>
          </a:xfrm>
          <a:prstGeom prst="rect">
            <a:avLst/>
          </a:prstGeom>
          <a:ln>
            <a:noFill/>
          </a:ln>
          <a:effectLst>
            <a:softEdge rad="112500"/>
          </a:effectLst>
        </p:spPr>
      </p:pic>
      <p:pic>
        <p:nvPicPr>
          <p:cNvPr id="4" name="Рисунок 3" descr="642872013_3370804536417153_1608565938962237430_n.jpg"/>
          <p:cNvPicPr>
            <a:picLocks noChangeAspect="1"/>
          </p:cNvPicPr>
          <p:nvPr/>
        </p:nvPicPr>
        <p:blipFill>
          <a:blip r:embed="rId3"/>
          <a:stretch>
            <a:fillRect/>
          </a:stretch>
        </p:blipFill>
        <p:spPr>
          <a:xfrm>
            <a:off x="7021902" y="2398143"/>
            <a:ext cx="4977443" cy="4019910"/>
          </a:xfrm>
          <a:prstGeom prst="rect">
            <a:avLst/>
          </a:prstGeom>
          <a:ln>
            <a:noFill/>
          </a:ln>
          <a:effectLst>
            <a:softEdge rad="112500"/>
          </a:effec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uk-UA" dirty="0" smtClean="0"/>
              <a:t>Тиждень весняних свят</a:t>
            </a:r>
            <a:endParaRPr lang="uk-UA" dirty="0"/>
          </a:p>
        </p:txBody>
      </p:sp>
      <p:pic>
        <p:nvPicPr>
          <p:cNvPr id="4" name="Рисунок 3" descr="646927843_2286581581828654_5144846762726946022_n.jpg"/>
          <p:cNvPicPr>
            <a:picLocks noChangeAspect="1"/>
          </p:cNvPicPr>
          <p:nvPr/>
        </p:nvPicPr>
        <p:blipFill>
          <a:blip r:embed="rId2"/>
          <a:stretch>
            <a:fillRect/>
          </a:stretch>
        </p:blipFill>
        <p:spPr>
          <a:xfrm>
            <a:off x="1239329" y="2441275"/>
            <a:ext cx="5584165" cy="4028536"/>
          </a:xfrm>
          <a:prstGeom prst="rect">
            <a:avLst/>
          </a:prstGeom>
          <a:ln>
            <a:noFill/>
          </a:ln>
          <a:effectLst>
            <a:softEdge rad="112500"/>
          </a:effectLst>
        </p:spPr>
      </p:pic>
      <p:pic>
        <p:nvPicPr>
          <p:cNvPr id="5" name="Рисунок 4" descr="678655083_3428135760684030_3160772536938733132_n.jpg"/>
          <p:cNvPicPr>
            <a:picLocks noChangeAspect="1"/>
          </p:cNvPicPr>
          <p:nvPr/>
        </p:nvPicPr>
        <p:blipFill>
          <a:blip r:embed="rId3"/>
          <a:stretch>
            <a:fillRect/>
          </a:stretch>
        </p:blipFill>
        <p:spPr>
          <a:xfrm>
            <a:off x="7030528" y="2458527"/>
            <a:ext cx="4994695" cy="4002657"/>
          </a:xfrm>
          <a:prstGeom prst="rect">
            <a:avLst/>
          </a:prstGeom>
          <a:ln>
            <a:noFill/>
          </a:ln>
          <a:effectLst>
            <a:softEdge rad="112500"/>
          </a:effec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uk-UA" dirty="0" smtClean="0"/>
              <a:t>Дослідницький проект </a:t>
            </a:r>
            <a:br>
              <a:rPr lang="uk-UA" dirty="0" smtClean="0"/>
            </a:br>
            <a:r>
              <a:rPr lang="uk-UA" dirty="0" smtClean="0"/>
              <a:t>“ Город на підвіконні “</a:t>
            </a:r>
            <a:endParaRPr lang="uk-UA" dirty="0"/>
          </a:p>
        </p:txBody>
      </p:sp>
      <p:pic>
        <p:nvPicPr>
          <p:cNvPr id="3" name="Рисунок 2" descr="651371221_3384051968425743_5830212107197823278_n.jpg"/>
          <p:cNvPicPr>
            <a:picLocks noChangeAspect="1"/>
          </p:cNvPicPr>
          <p:nvPr/>
        </p:nvPicPr>
        <p:blipFill>
          <a:blip r:embed="rId2" cstate="print"/>
          <a:stretch>
            <a:fillRect/>
          </a:stretch>
        </p:blipFill>
        <p:spPr>
          <a:xfrm>
            <a:off x="879893" y="2320506"/>
            <a:ext cx="5374257" cy="4192436"/>
          </a:xfrm>
          <a:prstGeom prst="rect">
            <a:avLst/>
          </a:prstGeom>
          <a:ln>
            <a:noFill/>
          </a:ln>
          <a:effectLst>
            <a:softEdge rad="112500"/>
          </a:effectLst>
        </p:spPr>
      </p:pic>
      <p:pic>
        <p:nvPicPr>
          <p:cNvPr id="4" name="Рисунок 3" descr="649594758_3384051675092439_826663135569962657_n.jpg"/>
          <p:cNvPicPr>
            <a:picLocks noChangeAspect="1"/>
          </p:cNvPicPr>
          <p:nvPr/>
        </p:nvPicPr>
        <p:blipFill>
          <a:blip r:embed="rId3"/>
          <a:stretch>
            <a:fillRect/>
          </a:stretch>
        </p:blipFill>
        <p:spPr>
          <a:xfrm>
            <a:off x="6409427" y="2311880"/>
            <a:ext cx="5520906" cy="4183812"/>
          </a:xfrm>
          <a:prstGeom prst="rect">
            <a:avLst/>
          </a:prstGeom>
          <a:ln>
            <a:noFill/>
          </a:ln>
          <a:effectLst>
            <a:softEdge rad="112500"/>
          </a:effec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ctr"/>
            <a:r>
              <a:rPr lang="uk-UA" dirty="0" smtClean="0"/>
              <a:t>День здоров'я</a:t>
            </a:r>
            <a:endParaRPr lang="uk-UA" dirty="0"/>
          </a:p>
        </p:txBody>
      </p:sp>
      <p:pic>
        <p:nvPicPr>
          <p:cNvPr id="3" name="Рисунок 2" descr="703675396_3456215701209369_2796303179291776202_n.jpg"/>
          <p:cNvPicPr>
            <a:picLocks noChangeAspect="1"/>
          </p:cNvPicPr>
          <p:nvPr/>
        </p:nvPicPr>
        <p:blipFill>
          <a:blip r:embed="rId2"/>
          <a:stretch>
            <a:fillRect/>
          </a:stretch>
        </p:blipFill>
        <p:spPr>
          <a:xfrm>
            <a:off x="1276710" y="2329131"/>
            <a:ext cx="5313872" cy="4063043"/>
          </a:xfrm>
          <a:prstGeom prst="rect">
            <a:avLst/>
          </a:prstGeom>
          <a:ln>
            <a:noFill/>
          </a:ln>
          <a:effectLst>
            <a:softEdge rad="112500"/>
          </a:effectLst>
        </p:spPr>
      </p:pic>
      <p:pic>
        <p:nvPicPr>
          <p:cNvPr id="5" name="Рисунок 4" descr="702569901_3456216004542672_3682319702998144658_n.jpg"/>
          <p:cNvPicPr>
            <a:picLocks noChangeAspect="1"/>
          </p:cNvPicPr>
          <p:nvPr/>
        </p:nvPicPr>
        <p:blipFill>
          <a:blip r:embed="rId3"/>
          <a:stretch>
            <a:fillRect/>
          </a:stretch>
        </p:blipFill>
        <p:spPr>
          <a:xfrm>
            <a:off x="6788989" y="2424023"/>
            <a:ext cx="5095336" cy="3942271"/>
          </a:xfrm>
          <a:prstGeom prst="rect">
            <a:avLst/>
          </a:prstGeom>
          <a:ln>
            <a:noFill/>
          </a:ln>
          <a:effectLst>
            <a:softEdge rad="112500"/>
          </a:effec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pPr algn="ctr"/>
            <a:r>
              <a:rPr lang="uk-UA" dirty="0" smtClean="0"/>
              <a:t>День вишиванки</a:t>
            </a:r>
            <a:br>
              <a:rPr lang="uk-UA" dirty="0" smtClean="0"/>
            </a:br>
            <a:r>
              <a:rPr lang="uk-UA" dirty="0" smtClean="0"/>
              <a:t>“А у нас в садочку розцвіли сорочки ”</a:t>
            </a:r>
            <a:endParaRPr lang="uk-UA" dirty="0"/>
          </a:p>
        </p:txBody>
      </p:sp>
      <p:pic>
        <p:nvPicPr>
          <p:cNvPr id="3" name="Рисунок 2" descr="682816612_1625963455302199_4028031921817673046_n.jpg"/>
          <p:cNvPicPr>
            <a:picLocks noChangeAspect="1"/>
          </p:cNvPicPr>
          <p:nvPr/>
        </p:nvPicPr>
        <p:blipFill>
          <a:blip r:embed="rId2"/>
          <a:stretch>
            <a:fillRect/>
          </a:stretch>
        </p:blipFill>
        <p:spPr>
          <a:xfrm>
            <a:off x="1449239" y="2268747"/>
            <a:ext cx="5098210" cy="3985404"/>
          </a:xfrm>
          <a:prstGeom prst="rect">
            <a:avLst/>
          </a:prstGeom>
          <a:ln>
            <a:noFill/>
          </a:ln>
          <a:effectLst>
            <a:softEdge rad="112500"/>
          </a:effectLst>
        </p:spPr>
      </p:pic>
      <p:pic>
        <p:nvPicPr>
          <p:cNvPr id="5" name="Рисунок 4" descr="691372853_1019393230517029_827107527068403572_n.jpg"/>
          <p:cNvPicPr>
            <a:picLocks noChangeAspect="1"/>
          </p:cNvPicPr>
          <p:nvPr/>
        </p:nvPicPr>
        <p:blipFill>
          <a:blip r:embed="rId3"/>
          <a:stretch>
            <a:fillRect/>
          </a:stretch>
        </p:blipFill>
        <p:spPr>
          <a:xfrm>
            <a:off x="6866626" y="2277374"/>
            <a:ext cx="4994695" cy="3968151"/>
          </a:xfrm>
          <a:prstGeom prst="rect">
            <a:avLst/>
          </a:prstGeom>
          <a:ln>
            <a:noFill/>
          </a:ln>
          <a:effectLst>
            <a:softEdge rad="112500"/>
          </a:effec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uk-UA" sz="2800" dirty="0" smtClean="0"/>
              <a:t>Етно – фестиваль угорських народних танців </a:t>
            </a:r>
            <a:br>
              <a:rPr lang="uk-UA" sz="2800" dirty="0" smtClean="0"/>
            </a:br>
            <a:r>
              <a:rPr lang="uk-UA" sz="2800" dirty="0" smtClean="0"/>
              <a:t>“  </a:t>
            </a:r>
            <a:r>
              <a:rPr lang="uk-UA" sz="2800" dirty="0" err="1" smtClean="0"/>
              <a:t>Туліпан</a:t>
            </a:r>
            <a:r>
              <a:rPr lang="uk-UA" sz="2800" dirty="0" smtClean="0"/>
              <a:t> </a:t>
            </a:r>
            <a:r>
              <a:rPr lang="uk-UA" sz="2800" dirty="0" err="1" smtClean="0"/>
              <a:t>Танода</a:t>
            </a:r>
            <a:r>
              <a:rPr lang="uk-UA" sz="2800" dirty="0" smtClean="0"/>
              <a:t> ”</a:t>
            </a:r>
            <a:endParaRPr lang="uk-UA" sz="2800" dirty="0"/>
          </a:p>
        </p:txBody>
      </p:sp>
      <p:pic>
        <p:nvPicPr>
          <p:cNvPr id="3" name="Рисунок 2" descr="711670109_3471581783006094_6307782606332679909_n.jpg"/>
          <p:cNvPicPr>
            <a:picLocks noChangeAspect="1"/>
          </p:cNvPicPr>
          <p:nvPr/>
        </p:nvPicPr>
        <p:blipFill>
          <a:blip r:embed="rId2"/>
          <a:stretch>
            <a:fillRect/>
          </a:stretch>
        </p:blipFill>
        <p:spPr>
          <a:xfrm>
            <a:off x="1498121" y="2303253"/>
            <a:ext cx="4988942" cy="3959525"/>
          </a:xfrm>
          <a:prstGeom prst="rect">
            <a:avLst/>
          </a:prstGeom>
          <a:ln>
            <a:noFill/>
          </a:ln>
          <a:effectLst>
            <a:softEdge rad="112500"/>
          </a:effectLst>
        </p:spPr>
      </p:pic>
      <p:pic>
        <p:nvPicPr>
          <p:cNvPr id="4" name="Рисунок 3" descr="711465814_3471581826339423_5670111842053348451_n.jpg"/>
          <p:cNvPicPr>
            <a:picLocks noChangeAspect="1"/>
          </p:cNvPicPr>
          <p:nvPr/>
        </p:nvPicPr>
        <p:blipFill>
          <a:blip r:embed="rId3"/>
          <a:stretch>
            <a:fillRect/>
          </a:stretch>
        </p:blipFill>
        <p:spPr>
          <a:xfrm>
            <a:off x="6737230" y="2286000"/>
            <a:ext cx="5218982" cy="3942272"/>
          </a:xfrm>
          <a:prstGeom prst="rect">
            <a:avLst/>
          </a:prstGeom>
          <a:ln>
            <a:noFill/>
          </a:ln>
          <a:effectLst>
            <a:softEdge rad="112500"/>
          </a:effec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2493034" y="624110"/>
            <a:ext cx="9011577" cy="1280890"/>
          </a:xfrm>
        </p:spPr>
        <p:txBody>
          <a:bodyPr/>
          <a:lstStyle/>
          <a:p>
            <a:pPr algn="ctr"/>
            <a:r>
              <a:rPr lang="uk-UA" dirty="0" smtClean="0"/>
              <a:t>Свято “ Прощавай , наш дитсадочок “</a:t>
            </a:r>
            <a:br>
              <a:rPr lang="uk-UA" dirty="0" smtClean="0"/>
            </a:br>
            <a:r>
              <a:rPr lang="uk-UA" dirty="0" smtClean="0"/>
              <a:t>Дякуємо за увагу!</a:t>
            </a:r>
            <a:endParaRPr lang="uk-UA" dirty="0"/>
          </a:p>
        </p:txBody>
      </p:sp>
      <p:pic>
        <p:nvPicPr>
          <p:cNvPr id="3" name="Рисунок 2" descr="724143064_3486345618196377_6732115069049672636_n.jpg"/>
          <p:cNvPicPr>
            <a:picLocks noChangeAspect="1"/>
          </p:cNvPicPr>
          <p:nvPr/>
        </p:nvPicPr>
        <p:blipFill>
          <a:blip r:embed="rId2"/>
          <a:stretch>
            <a:fillRect/>
          </a:stretch>
        </p:blipFill>
        <p:spPr>
          <a:xfrm>
            <a:off x="966158" y="2639682"/>
            <a:ext cx="5236234" cy="3717986"/>
          </a:xfrm>
          <a:prstGeom prst="rect">
            <a:avLst/>
          </a:prstGeom>
          <a:ln>
            <a:noFill/>
          </a:ln>
          <a:effectLst>
            <a:softEdge rad="112500"/>
          </a:effectLst>
        </p:spPr>
      </p:pic>
      <p:pic>
        <p:nvPicPr>
          <p:cNvPr id="4" name="Рисунок 3" descr="723663404_3481759955321610_6197344384986378799_n.jpg"/>
          <p:cNvPicPr>
            <a:picLocks noChangeAspect="1"/>
          </p:cNvPicPr>
          <p:nvPr/>
        </p:nvPicPr>
        <p:blipFill>
          <a:blip r:embed="rId3"/>
          <a:stretch>
            <a:fillRect/>
          </a:stretch>
        </p:blipFill>
        <p:spPr>
          <a:xfrm>
            <a:off x="6435307" y="2648309"/>
            <a:ext cx="5500776" cy="3700733"/>
          </a:xfrm>
          <a:prstGeom prst="rect">
            <a:avLst/>
          </a:prstGeom>
          <a:ln>
            <a:noFill/>
          </a:ln>
          <a:effectLst>
            <a:softEdge rad="112500"/>
          </a:effectLst>
        </p:spPr>
      </p:pic>
    </p:spTree>
  </p:cSld>
  <p:clrMapOvr>
    <a:masterClrMapping/>
  </p:clrMapOvr>
</p:sld>
</file>

<file path=ppt/theme/theme1.xml><?xml version="1.0" encoding="utf-8"?>
<a:theme xmlns:a="http://schemas.openxmlformats.org/drawingml/2006/main" name="Віхоть">
  <a:themeElements>
    <a:clrScheme name="Віхоть">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Віхоть">
      <a:maj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Віхоть">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Wisp</Template>
  <TotalTime>600</TotalTime>
  <Words>132</Words>
  <Application>Microsoft Office PowerPoint</Application>
  <PresentationFormat>Произвольный</PresentationFormat>
  <Paragraphs>20</Paragraphs>
  <Slides>20</Slides>
  <Notes>0</Notes>
  <HiddenSlides>0</HiddenSlides>
  <MMClips>0</MMClips>
  <ScaleCrop>false</ScaleCrop>
  <HeadingPairs>
    <vt:vector size="4" baseType="variant">
      <vt:variant>
        <vt:lpstr>Тема</vt:lpstr>
      </vt:variant>
      <vt:variant>
        <vt:i4>1</vt:i4>
      </vt:variant>
      <vt:variant>
        <vt:lpstr>Заголовки слайдов</vt:lpstr>
      </vt:variant>
      <vt:variant>
        <vt:i4>20</vt:i4>
      </vt:variant>
    </vt:vector>
  </HeadingPairs>
  <TitlesOfParts>
    <vt:vector size="21" baseType="lpstr">
      <vt:lpstr>Віхоть</vt:lpstr>
      <vt:lpstr>Звіт директора Тийгласького ЗДО  «Чарівний сад» Анжеліки КУРТАНИЧ  за 2025–2026 навчальний рік </vt:lpstr>
      <vt:lpstr>                               Тийгласький заклад дошкільної освіти «Чарівний сад»  Адреса:  поштовий індекс – 89432, Закарпатська область, Ужгородський район, с. Тийглаш, вул. Сечені, буд. 8. Заклад розташований у двоповерховій будівлі. Потужність закладу дошкільної освіти складає 60 місць. Заклад працює за п'ятиденним робочим тижнем. Тривалість денного перебування - 10,5 годин. Тийгласький заклад дошкільної освіти знаходиться на межі двох сіл - Сюрте та Тийглаш. Садок функціонує з 1987 року. Спочатку заклад знаходився у власності села Сюрте, але у 2003 році був перейменований на Тийгласький ДНЗ і перейшов у власність села Тийглаш. Освітня робота проводилася у трьох вікових групах.  Станом на 1997 рік у закладі залишилися лише дві різновікові групи.  У 2018 році знову відкрили третю групу.  З 2022 року функціонують лише дві різновікові групи. У 2021 році Тийгласький ДНЗ був перейменований на Тийгласький заклад дошкільної освіти «Чарівний сад» Сюртівської сільської ради Ужгородського району Закарпатської області. </vt:lpstr>
      <vt:lpstr>  Нормативно-правові та методологічні засади функціонування             закладу  Тийгласький заклад дошкільної освіти ,,Чарівний сад”   Сюртівської  сільської ради Ужгородського району Закарпатської області (далі – Тийгласький ЗДО, заклад, дитячий садок) здійснює свою діяльність відповідно до нормативних документів та законодавчих актів України: У своїй діяльності заклад керувався Конституцією України, законами України «Про освіту», «Про дошкільну освіту», «Про охорону дитинства», «Про повну загальну середню освіту», Конвенцією ООН про права дитини, Базовим компонентом дошкільної освіти (Державним стандартом дошкільної освіти), а також іншими нормативно-правовими актами Кабінету Міністрів України, Міністерства освіти і науки України, рішеннями органів місцевого самоврядування та засновника закладу.  Упродовж звітного періоду нормативно-правове регулювання діяльності закладу також здійснювалося відповідно до нових підзаконних актів Кабінету Міністрів України та Міністерства освіти і науки України, зокрема:  1. Постанови Кабінету Міністрів України від 07.07.2025 № 818 «Деякі питання про типи організації освітньої діяльності закладів дошкільної освіти», якою запроваджено нові гнучкі форми організації діяльності ЗДО, зокрема мобільні, сімейні, мережеві заклади та міні-садочки. </vt:lpstr>
      <vt:lpstr>2. Постанови Кабінету Міністрів України від 04.04.2025 № 381 щодо утворення та функціонування спеціальних груп для дітей з особливими освітніми потребами, що посилила нормативне забезпечення інклюзивної освіти та створення умов для реалізації права кожної дитини на якісну освіту;  3. Постанови Кабінету Міністрів України від 07.07.2025 № 817 «Про затвердження Положення про спеціальний дитячий садок», яка врегулювала особливості функціонування спеціальних закладів дошкільної освіти  4. наказів Міністерства освіти і науки України щодо затвердження нових положень про форми здобуття дошкільної освіти:  мережеву форму (наказ № 746 від 21.05.2025), сімейну (домашню) форму (наказ № 786 від 28.05.2025),  очну (денну) форму (наказ № 747 від 21.05.2025),  дистанційну форму (наказ № 926 від 26.06.2025), педагогічний патронаж (наказ № 895 від 23.06.2025).</vt:lpstr>
      <vt:lpstr>Організаційно-педагогічна мережа та аналіз контингенту здобувачів освіти  Освітній процес у Тийглаському ЗДО організовано відповідно до вимог чинного законодавства України у сфері освіти, Базового компонента дошкільної освіти, освітньої програми «Українське дошкілля» санітарного регламенту та установчих документів закладу.   Проєктна потужність будівлі становить 60 місць.  У 2025–2026 навчальному році контингент вихованців складає 40 дітей; Освітній процес у закладі здійснюється— українською та угорською мовою.  Режим роботи закладу — п’ятиденний, із 10,5-годинним перебуванням дітей  (з 07:30 до 18:00), що забезпечує можливість повноцінного догляду, виховання та розвитку дітей відповідно до потреб сімей вихованців і соціального запиту громади.  У 2025–2026 навчальному році в закладі функціонували 2 різновікові групи: -  “Веселка”- старша різновікова група (вихователь- Чуха Тімея Олександрівна) - ”Білочка”-  середня різновікова група (вихователь- Горбач Тімея Людвиківна)             </vt:lpstr>
      <vt:lpstr>Штатний персонал нараховує 15 осіб: 1 – Директор, 4 – педагоги, 9 – техперсонал, 1 – медичний працівник.         Загальна кількість дітей – 40 осіб         Педагогічний патронаж – 5 осіб За рішенням Сюртівської сільської ради 13 дітей пільгових категорій були частково або повністю звільнені від плати за харчування.  Загалом безкоштовним харчуванням у закладі охоплено 6 дітей, серед яких: 3 дітей учасників бойових дій; 1 дитина загиблого військовослужбовця; 2 дітей із числа внутрішньо переміщених осіб; Для 5 вихованців було організовано педагогічний патронаж- Відповідно до Закону України «Про дошкільну освіту», Положення про форму здобуття дошкільної освіти – педагогічний патронаж;  </vt:lpstr>
      <vt:lpstr>Цікаві заходи в житті садочка Тиждень безпеки дорожнього руху </vt:lpstr>
      <vt:lpstr>Тиждень безпеки дорожнього руху  “ Зустріч із поліцейською ”</vt:lpstr>
      <vt:lpstr>Свято “ Золота осінь ”</vt:lpstr>
      <vt:lpstr>День української писемності та мови День Державного Гімну України</vt:lpstr>
      <vt:lpstr>Свято Святого Миколая</vt:lpstr>
      <vt:lpstr>Різдвяний концерт “ Світло різдвяної зірки “</vt:lpstr>
      <vt:lpstr>Карнавал “ Фаршанг ”</vt:lpstr>
      <vt:lpstr>День єднання:в єдності наша сила! Зустріч із військовослужбовцем</vt:lpstr>
      <vt:lpstr>Тиждень весняних свят</vt:lpstr>
      <vt:lpstr>Дослідницький проект  “ Город на підвіконні “</vt:lpstr>
      <vt:lpstr>День здоров'я</vt:lpstr>
      <vt:lpstr>День вишиванки “А у нас в садочку розцвіли сорочки ”</vt:lpstr>
      <vt:lpstr>Етно – фестиваль угорських народних танців  “  Туліпан Танода ”</vt:lpstr>
      <vt:lpstr>Свято “ Прощавай , наш дитсадочок “ Дякуємо за увагу!</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Звіт директора Тийгласького ЗДО  «Чарівний сад»  за 2025–2026 навчальний рік</dc:title>
  <dc:creator>Анжеліка Куртанич</dc:creator>
  <cp:lastModifiedBy>Анжеліка</cp:lastModifiedBy>
  <cp:revision>40</cp:revision>
  <dcterms:created xsi:type="dcterms:W3CDTF">2026-08-27T07:00:48Z</dcterms:created>
  <dcterms:modified xsi:type="dcterms:W3CDTF">2026-09-20T19:49:50Z</dcterms:modified>
</cp:coreProperties>
</file>